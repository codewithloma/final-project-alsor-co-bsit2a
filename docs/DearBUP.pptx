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Fatimi" charset="1" panose="00000500000000000000"/>
      <p:regular r:id="rId23"/>
    </p:embeddedFont>
    <p:embeddedFont>
      <p:font typeface="Tomorrow" charset="1" panose="00000000000000000000"/>
      <p:regular r:id="rId24"/>
    </p:embeddedFont>
    <p:embeddedFont>
      <p:font typeface="Intro Rust" charset="1" panose="00000500000000000000"/>
      <p:regular r:id="rId25"/>
    </p:embeddedFont>
    <p:embeddedFont>
      <p:font typeface="Canva Sans Bold" charset="1" panose="020B0803030501040103"/>
      <p:regular r:id="rId26"/>
    </p:embeddedFont>
    <p:embeddedFont>
      <p:font typeface="Tomorrow Bold" charset="1" panose="000000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11" Target="../media/image23.svg" Type="http://schemas.openxmlformats.org/officeDocument/2006/relationships/image"/><Relationship Id="rId12" Target="../media/image24.png" Type="http://schemas.openxmlformats.org/officeDocument/2006/relationships/image"/><Relationship Id="rId13" Target="../media/image25.svg" Type="http://schemas.openxmlformats.org/officeDocument/2006/relationships/image"/><Relationship Id="rId14" Target="../media/image26.png" Type="http://schemas.openxmlformats.org/officeDocument/2006/relationships/image"/><Relationship Id="rId15" Target="../media/image27.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4.png" Type="http://schemas.openxmlformats.org/officeDocument/2006/relationships/image"/><Relationship Id="rId6" Target="../media/image18.png" Type="http://schemas.openxmlformats.org/officeDocument/2006/relationships/image"/><Relationship Id="rId7" Target="../media/image19.svg" Type="http://schemas.openxmlformats.org/officeDocument/2006/relationships/image"/><Relationship Id="rId8" Target="../media/image20.png" Type="http://schemas.openxmlformats.org/officeDocument/2006/relationships/image"/><Relationship Id="rId9" Target="../media/image21.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4.png" Type="http://schemas.openxmlformats.org/officeDocument/2006/relationships/image"/><Relationship Id="rId11" Target="../media/image45.pn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7.png" Type="http://schemas.openxmlformats.org/officeDocument/2006/relationships/image"/><Relationship Id="rId15" Target="../media/image8.svg" Type="http://schemas.openxmlformats.org/officeDocument/2006/relationships/image"/><Relationship Id="rId16" Target="../media/image9.png" Type="http://schemas.openxmlformats.org/officeDocument/2006/relationships/image"/><Relationship Id="rId17" Target="../media/image10.svg" Type="http://schemas.openxmlformats.org/officeDocument/2006/relationships/image"/><Relationship Id="rId18" Target="../media/image11.png" Type="http://schemas.openxmlformats.org/officeDocument/2006/relationships/image"/><Relationship Id="rId19" Target="../media/image12.svg" Type="http://schemas.openxmlformats.org/officeDocument/2006/relationships/image"/><Relationship Id="rId2" Target="../media/image1.png" Type="http://schemas.openxmlformats.org/officeDocument/2006/relationships/image"/><Relationship Id="rId20" Target="../media/image13.png" Type="http://schemas.openxmlformats.org/officeDocument/2006/relationships/image"/><Relationship Id="rId21" Target="../media/image14.svg" Type="http://schemas.openxmlformats.org/officeDocument/2006/relationships/image"/><Relationship Id="rId22" Target="../media/image46.png" Type="http://schemas.openxmlformats.org/officeDocument/2006/relationships/image"/><Relationship Id="rId23" Target="../media/image47.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40.png" Type="http://schemas.openxmlformats.org/officeDocument/2006/relationships/image"/><Relationship Id="rId7" Target="../media/image41.png" Type="http://schemas.openxmlformats.org/officeDocument/2006/relationships/image"/><Relationship Id="rId8" Target="../media/image42.png" Type="http://schemas.openxmlformats.org/officeDocument/2006/relationships/image"/><Relationship Id="rId9" Target="../media/image4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4.png" Type="http://schemas.openxmlformats.org/officeDocument/2006/relationships/image"/><Relationship Id="rId11" Target="../media/image35.svg" Type="http://schemas.openxmlformats.org/officeDocument/2006/relationships/image"/><Relationship Id="rId12" Target="../media/image36.png" Type="http://schemas.openxmlformats.org/officeDocument/2006/relationships/image"/><Relationship Id="rId13" Target="../media/image37.svg" Type="http://schemas.openxmlformats.org/officeDocument/2006/relationships/image"/><Relationship Id="rId14" Target="../media/image38.png" Type="http://schemas.openxmlformats.org/officeDocument/2006/relationships/image"/><Relationship Id="rId15" Target="../media/image39.svg" Type="http://schemas.openxmlformats.org/officeDocument/2006/relationships/image"/><Relationship Id="rId16" Target="../media/image15.png" Type="http://schemas.openxmlformats.org/officeDocument/2006/relationships/image"/><Relationship Id="rId2" Target="../media/image1.png" Type="http://schemas.openxmlformats.org/officeDocument/2006/relationships/image"/><Relationship Id="rId3" Target="../media/image28.png" Type="http://schemas.openxmlformats.org/officeDocument/2006/relationships/image"/><Relationship Id="rId4" Target="../media/image29.svg" Type="http://schemas.openxmlformats.org/officeDocument/2006/relationships/image"/><Relationship Id="rId5" Target="../media/image4.png" Type="http://schemas.openxmlformats.org/officeDocument/2006/relationships/image"/><Relationship Id="rId6" Target="../media/image30.png" Type="http://schemas.openxmlformats.org/officeDocument/2006/relationships/image"/><Relationship Id="rId7" Target="../media/image31.svg" Type="http://schemas.openxmlformats.org/officeDocument/2006/relationships/image"/><Relationship Id="rId8" Target="../media/image32.png" Type="http://schemas.openxmlformats.org/officeDocument/2006/relationships/image"/><Relationship Id="rId9" Target="../media/image33.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EDE2D8"/>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D6A73">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D6A73">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EDE2D8"/>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D6A73">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EDE2D8"/>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D6A73">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D6A73">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EDE2D8"/>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8314217" y="3381414"/>
            <a:ext cx="7344892" cy="4655071"/>
            <a:chOff x="0" y="0"/>
            <a:chExt cx="1934457" cy="1226027"/>
          </a:xfrm>
        </p:grpSpPr>
        <p:sp>
          <p:nvSpPr>
            <p:cNvPr name="Freeform 38" id="38"/>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FFFFFF"/>
            </a:solidFill>
          </p:spPr>
        </p:sp>
        <p:sp>
          <p:nvSpPr>
            <p:cNvPr name="TextBox 39" id="39"/>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532019" y="8036485"/>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934564" y="8036485"/>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9999208" y="869768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645" y="8706454"/>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1762639" y="3892361"/>
            <a:ext cx="6343849" cy="2470545"/>
          </a:xfrm>
          <a:prstGeom prst="rect">
            <a:avLst/>
          </a:prstGeom>
        </p:spPr>
        <p:txBody>
          <a:bodyPr anchor="t" rtlCol="false" tIns="0" lIns="0" bIns="0" rIns="0">
            <a:spAutoFit/>
          </a:bodyPr>
          <a:lstStyle/>
          <a:p>
            <a:pPr algn="ctr">
              <a:lnSpc>
                <a:spcPts val="20296"/>
              </a:lnSpc>
            </a:pPr>
            <a:r>
              <a:rPr lang="en-US" sz="14497">
                <a:solidFill>
                  <a:srgbClr val="DE9D95"/>
                </a:solidFill>
                <a:latin typeface="Fatimi"/>
                <a:ea typeface="Fatimi"/>
                <a:cs typeface="Fatimi"/>
                <a:sym typeface="Fatimi"/>
              </a:rPr>
              <a:t>DEAR  BUP</a:t>
            </a:r>
            <a:r>
              <a:rPr lang="en-US" sz="14497">
                <a:solidFill>
                  <a:srgbClr val="DE9D95"/>
                </a:solidFill>
                <a:latin typeface="Fatimi"/>
                <a:ea typeface="Fatimi"/>
                <a:cs typeface="Fatimi"/>
                <a:sym typeface="Fatimi"/>
              </a:rPr>
              <a:t> </a:t>
            </a:r>
          </a:p>
        </p:txBody>
      </p:sp>
      <p:sp>
        <p:nvSpPr>
          <p:cNvPr name="TextBox 79" id="79"/>
          <p:cNvSpPr txBox="true"/>
          <p:nvPr/>
        </p:nvSpPr>
        <p:spPr>
          <a:xfrm rot="0">
            <a:off x="2478975" y="8094558"/>
            <a:ext cx="1093601" cy="545323"/>
          </a:xfrm>
          <a:prstGeom prst="rect">
            <a:avLst/>
          </a:prstGeom>
        </p:spPr>
        <p:txBody>
          <a:bodyPr anchor="t" rtlCol="false" tIns="0" lIns="0" bIns="0" rIns="0">
            <a:spAutoFit/>
          </a:bodyPr>
          <a:lstStyle/>
          <a:p>
            <a:pPr algn="ctr">
              <a:lnSpc>
                <a:spcPts val="4445"/>
              </a:lnSpc>
            </a:pPr>
            <a:r>
              <a:rPr lang="en-US" sz="3175">
                <a:solidFill>
                  <a:srgbClr val="BD6A73"/>
                </a:solidFill>
                <a:latin typeface="Tomorrow"/>
                <a:ea typeface="Tomorrow"/>
                <a:cs typeface="Tomorrow"/>
                <a:sym typeface="Tomorrow"/>
              </a:rPr>
              <a:t>Learn</a:t>
            </a:r>
          </a:p>
        </p:txBody>
      </p:sp>
      <p:sp>
        <p:nvSpPr>
          <p:cNvPr name="TextBox 80" id="80"/>
          <p:cNvSpPr txBox="true"/>
          <p:nvPr/>
        </p:nvSpPr>
        <p:spPr>
          <a:xfrm rot="0">
            <a:off x="5584018" y="8091509"/>
            <a:ext cx="1688604" cy="547878"/>
          </a:xfrm>
          <a:prstGeom prst="rect">
            <a:avLst/>
          </a:prstGeom>
        </p:spPr>
        <p:txBody>
          <a:bodyPr anchor="t" rtlCol="false" tIns="0" lIns="0" bIns="0" rIns="0">
            <a:spAutoFit/>
          </a:bodyPr>
          <a:lstStyle/>
          <a:p>
            <a:pPr algn="ctr">
              <a:lnSpc>
                <a:spcPts val="4452"/>
              </a:lnSpc>
            </a:pPr>
            <a:r>
              <a:rPr lang="en-US" sz="3179">
                <a:solidFill>
                  <a:srgbClr val="BD6A73"/>
                </a:solidFill>
                <a:latin typeface="Tomorrow"/>
                <a:ea typeface="Tomorrow"/>
                <a:cs typeface="Tomorrow"/>
                <a:sym typeface="Tomorrow"/>
              </a:rPr>
              <a:t>Discover</a:t>
            </a:r>
          </a:p>
        </p:txBody>
      </p:sp>
      <p:sp>
        <p:nvSpPr>
          <p:cNvPr name="TextBox 81" id="81"/>
          <p:cNvSpPr txBox="true"/>
          <p:nvPr/>
        </p:nvSpPr>
        <p:spPr>
          <a:xfrm rot="0">
            <a:off x="9846614" y="3770198"/>
            <a:ext cx="4280099" cy="912293"/>
          </a:xfrm>
          <a:prstGeom prst="rect">
            <a:avLst/>
          </a:prstGeom>
        </p:spPr>
        <p:txBody>
          <a:bodyPr anchor="t" rtlCol="false" tIns="0" lIns="0" bIns="0" rIns="0">
            <a:spAutoFit/>
          </a:bodyPr>
          <a:lstStyle/>
          <a:p>
            <a:pPr algn="ctr">
              <a:lnSpc>
                <a:spcPts val="7466"/>
              </a:lnSpc>
            </a:pPr>
            <a:r>
              <a:rPr lang="en-US" sz="5332">
                <a:solidFill>
                  <a:srgbClr val="E1B29C"/>
                </a:solidFill>
                <a:latin typeface="Intro Rust"/>
                <a:ea typeface="Intro Rust"/>
                <a:cs typeface="Intro Rust"/>
                <a:sym typeface="Intro Rust"/>
              </a:rPr>
              <a:t>OBJECTIVES</a:t>
            </a:r>
          </a:p>
        </p:txBody>
      </p:sp>
      <p:sp>
        <p:nvSpPr>
          <p:cNvPr name="TextBox 82" id="82"/>
          <p:cNvSpPr txBox="true"/>
          <p:nvPr/>
        </p:nvSpPr>
        <p:spPr>
          <a:xfrm rot="0">
            <a:off x="8724364" y="4915291"/>
            <a:ext cx="6524599" cy="2508562"/>
          </a:xfrm>
          <a:prstGeom prst="rect">
            <a:avLst/>
          </a:prstGeom>
        </p:spPr>
        <p:txBody>
          <a:bodyPr anchor="t" rtlCol="false" tIns="0" lIns="0" bIns="0" rIns="0">
            <a:spAutoFit/>
          </a:bodyPr>
          <a:lstStyle/>
          <a:p>
            <a:pPr algn="just" marL="618063" indent="-309031" lvl="1">
              <a:lnSpc>
                <a:spcPts val="4007"/>
              </a:lnSpc>
              <a:buFont typeface="Arial"/>
              <a:buChar char="•"/>
            </a:pPr>
            <a:r>
              <a:rPr lang="en-US" b="true" sz="2862">
                <a:solidFill>
                  <a:srgbClr val="BD6A73"/>
                </a:solidFill>
                <a:latin typeface="Canva Sans Bold"/>
                <a:ea typeface="Canva Sans Bold"/>
                <a:cs typeface="Canva Sans Bold"/>
                <a:sym typeface="Canva Sans Bold"/>
              </a:rPr>
              <a:t>T</a:t>
            </a:r>
            <a:r>
              <a:rPr lang="en-US" b="true" sz="2862">
                <a:solidFill>
                  <a:srgbClr val="BD6A73"/>
                </a:solidFill>
                <a:latin typeface="Canva Sans Bold"/>
                <a:ea typeface="Canva Sans Bold"/>
                <a:cs typeface="Canva Sans Bold"/>
                <a:sym typeface="Canva Sans Bold"/>
              </a:rPr>
              <a:t>he primary objective of this website is to centralize university communications whereas students can track, join, and evaluate school events.</a:t>
            </a:r>
          </a:p>
        </p:txBody>
      </p:sp>
      <p:sp>
        <p:nvSpPr>
          <p:cNvPr name="TextBox 83" id="83"/>
          <p:cNvSpPr txBox="true"/>
          <p:nvPr/>
        </p:nvSpPr>
        <p:spPr>
          <a:xfrm rot="0">
            <a:off x="2284853" y="946329"/>
            <a:ext cx="6197600" cy="548002"/>
          </a:xfrm>
          <a:prstGeom prst="rect">
            <a:avLst/>
          </a:prstGeom>
        </p:spPr>
        <p:txBody>
          <a:bodyPr anchor="t" rtlCol="false" tIns="0" lIns="0" bIns="0" rIns="0">
            <a:spAutoFit/>
          </a:bodyPr>
          <a:lstStyle/>
          <a:p>
            <a:pPr algn="ctr">
              <a:lnSpc>
                <a:spcPts val="4445"/>
              </a:lnSpc>
            </a:pPr>
            <a:r>
              <a:rPr lang="en-US" b="true" sz="3175">
                <a:solidFill>
                  <a:srgbClr val="BD6A73"/>
                </a:solidFill>
                <a:latin typeface="Tomorrow Bold"/>
                <a:ea typeface="Tomorrow Bold"/>
                <a:cs typeface="Tomorrow Bold"/>
                <a:sym typeface="Tomorrow Bold"/>
              </a:rPr>
              <a:t>WebSystems and Technology</a:t>
            </a:r>
          </a:p>
        </p:txBody>
      </p:sp>
      <p:sp>
        <p:nvSpPr>
          <p:cNvPr name="Freeform 84" id="84"/>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EDE2D8"/>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D6A73">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D6A73">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EDE2D8"/>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D6A73">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EDE2D8"/>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D6A73">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D6A73">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EDE2D8"/>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8314217" y="3381414"/>
            <a:ext cx="7344892" cy="4655071"/>
            <a:chOff x="0" y="0"/>
            <a:chExt cx="1934457" cy="1226027"/>
          </a:xfrm>
        </p:grpSpPr>
        <p:sp>
          <p:nvSpPr>
            <p:cNvPr name="Freeform 38" id="38"/>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FFFFFF"/>
            </a:solidFill>
          </p:spPr>
        </p:sp>
        <p:sp>
          <p:nvSpPr>
            <p:cNvPr name="TextBox 39" id="39"/>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532019" y="8036485"/>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934564" y="8036485"/>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9999208" y="869768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645" y="8706454"/>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Freeform 78" id="78"/>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
        <p:nvSpPr>
          <p:cNvPr name="TextBox 79" id="79"/>
          <p:cNvSpPr txBox="true"/>
          <p:nvPr/>
        </p:nvSpPr>
        <p:spPr>
          <a:xfrm rot="0">
            <a:off x="1762639" y="3892361"/>
            <a:ext cx="6343849" cy="2470545"/>
          </a:xfrm>
          <a:prstGeom prst="rect">
            <a:avLst/>
          </a:prstGeom>
        </p:spPr>
        <p:txBody>
          <a:bodyPr anchor="t" rtlCol="false" tIns="0" lIns="0" bIns="0" rIns="0">
            <a:spAutoFit/>
          </a:bodyPr>
          <a:lstStyle/>
          <a:p>
            <a:pPr algn="ctr">
              <a:lnSpc>
                <a:spcPts val="20296"/>
              </a:lnSpc>
            </a:pPr>
            <a:r>
              <a:rPr lang="en-US" sz="14497">
                <a:solidFill>
                  <a:srgbClr val="DE9D95"/>
                </a:solidFill>
                <a:latin typeface="Fatimi"/>
                <a:ea typeface="Fatimi"/>
                <a:cs typeface="Fatimi"/>
                <a:sym typeface="Fatimi"/>
              </a:rPr>
              <a:t>DEAR  BUP</a:t>
            </a:r>
            <a:r>
              <a:rPr lang="en-US" sz="14497">
                <a:solidFill>
                  <a:srgbClr val="DE9D95"/>
                </a:solidFill>
                <a:latin typeface="Fatimi"/>
                <a:ea typeface="Fatimi"/>
                <a:cs typeface="Fatimi"/>
                <a:sym typeface="Fatimi"/>
              </a:rPr>
              <a:t> </a:t>
            </a:r>
          </a:p>
        </p:txBody>
      </p:sp>
      <p:sp>
        <p:nvSpPr>
          <p:cNvPr name="TextBox 80" id="80"/>
          <p:cNvSpPr txBox="true"/>
          <p:nvPr/>
        </p:nvSpPr>
        <p:spPr>
          <a:xfrm rot="0">
            <a:off x="2478975" y="8094558"/>
            <a:ext cx="1093601" cy="545323"/>
          </a:xfrm>
          <a:prstGeom prst="rect">
            <a:avLst/>
          </a:prstGeom>
        </p:spPr>
        <p:txBody>
          <a:bodyPr anchor="t" rtlCol="false" tIns="0" lIns="0" bIns="0" rIns="0">
            <a:spAutoFit/>
          </a:bodyPr>
          <a:lstStyle/>
          <a:p>
            <a:pPr algn="ctr">
              <a:lnSpc>
                <a:spcPts val="4445"/>
              </a:lnSpc>
            </a:pPr>
            <a:r>
              <a:rPr lang="en-US" sz="3175">
                <a:solidFill>
                  <a:srgbClr val="BD6A73"/>
                </a:solidFill>
                <a:latin typeface="Tomorrow"/>
                <a:ea typeface="Tomorrow"/>
                <a:cs typeface="Tomorrow"/>
                <a:sym typeface="Tomorrow"/>
              </a:rPr>
              <a:t>Learn</a:t>
            </a:r>
          </a:p>
        </p:txBody>
      </p:sp>
      <p:sp>
        <p:nvSpPr>
          <p:cNvPr name="TextBox 81" id="81"/>
          <p:cNvSpPr txBox="true"/>
          <p:nvPr/>
        </p:nvSpPr>
        <p:spPr>
          <a:xfrm rot="0">
            <a:off x="5584018" y="8091509"/>
            <a:ext cx="1688604" cy="547878"/>
          </a:xfrm>
          <a:prstGeom prst="rect">
            <a:avLst/>
          </a:prstGeom>
        </p:spPr>
        <p:txBody>
          <a:bodyPr anchor="t" rtlCol="false" tIns="0" lIns="0" bIns="0" rIns="0">
            <a:spAutoFit/>
          </a:bodyPr>
          <a:lstStyle/>
          <a:p>
            <a:pPr algn="ctr">
              <a:lnSpc>
                <a:spcPts val="4452"/>
              </a:lnSpc>
            </a:pPr>
            <a:r>
              <a:rPr lang="en-US" sz="3179">
                <a:solidFill>
                  <a:srgbClr val="BD6A73"/>
                </a:solidFill>
                <a:latin typeface="Tomorrow"/>
                <a:ea typeface="Tomorrow"/>
                <a:cs typeface="Tomorrow"/>
                <a:sym typeface="Tomorrow"/>
              </a:rPr>
              <a:t>Discover</a:t>
            </a:r>
          </a:p>
        </p:txBody>
      </p:sp>
      <p:sp>
        <p:nvSpPr>
          <p:cNvPr name="TextBox 82" id="82"/>
          <p:cNvSpPr txBox="true"/>
          <p:nvPr/>
        </p:nvSpPr>
        <p:spPr>
          <a:xfrm rot="0">
            <a:off x="9846614" y="3770198"/>
            <a:ext cx="4280099" cy="912293"/>
          </a:xfrm>
          <a:prstGeom prst="rect">
            <a:avLst/>
          </a:prstGeom>
        </p:spPr>
        <p:txBody>
          <a:bodyPr anchor="t" rtlCol="false" tIns="0" lIns="0" bIns="0" rIns="0">
            <a:spAutoFit/>
          </a:bodyPr>
          <a:lstStyle/>
          <a:p>
            <a:pPr algn="ctr">
              <a:lnSpc>
                <a:spcPts val="7466"/>
              </a:lnSpc>
            </a:pPr>
            <a:r>
              <a:rPr lang="en-US" sz="5332">
                <a:solidFill>
                  <a:srgbClr val="E1B29C"/>
                </a:solidFill>
                <a:latin typeface="Intro Rust"/>
                <a:ea typeface="Intro Rust"/>
                <a:cs typeface="Intro Rust"/>
                <a:sym typeface="Intro Rust"/>
              </a:rPr>
              <a:t>OBJECTIVES</a:t>
            </a:r>
          </a:p>
        </p:txBody>
      </p:sp>
      <p:sp>
        <p:nvSpPr>
          <p:cNvPr name="TextBox 83" id="83"/>
          <p:cNvSpPr txBox="true"/>
          <p:nvPr/>
        </p:nvSpPr>
        <p:spPr>
          <a:xfrm rot="0">
            <a:off x="8724364" y="4934341"/>
            <a:ext cx="6448847" cy="2227032"/>
          </a:xfrm>
          <a:prstGeom prst="rect">
            <a:avLst/>
          </a:prstGeom>
        </p:spPr>
        <p:txBody>
          <a:bodyPr anchor="t" rtlCol="false" tIns="0" lIns="0" bIns="0" rIns="0">
            <a:spAutoFit/>
          </a:bodyPr>
          <a:lstStyle/>
          <a:p>
            <a:pPr algn="just" marL="457642" indent="-228821" lvl="1">
              <a:lnSpc>
                <a:spcPts val="2967"/>
              </a:lnSpc>
              <a:buFont typeface="Arial"/>
              <a:buChar char="•"/>
            </a:pPr>
            <a:r>
              <a:rPr lang="en-US" b="true" sz="2119">
                <a:solidFill>
                  <a:srgbClr val="BD6A73"/>
                </a:solidFill>
                <a:latin typeface="Canva Sans Bold"/>
                <a:ea typeface="Canva Sans Bold"/>
                <a:cs typeface="Canva Sans Bold"/>
                <a:sym typeface="Canva Sans Bold"/>
              </a:rPr>
              <a:t>P</a:t>
            </a:r>
            <a:r>
              <a:rPr lang="en-US" b="true" sz="2119">
                <a:solidFill>
                  <a:srgbClr val="BD6A73"/>
                </a:solidFill>
                <a:latin typeface="Canva Sans Bold"/>
                <a:ea typeface="Canva Sans Bold"/>
                <a:cs typeface="Canva Sans Bold"/>
                <a:sym typeface="Canva Sans Bold"/>
              </a:rPr>
              <a:t>rovide safe environment for emotional expression</a:t>
            </a:r>
          </a:p>
          <a:p>
            <a:pPr algn="just" marL="457642" indent="-228821" lvl="1">
              <a:lnSpc>
                <a:spcPts val="2967"/>
              </a:lnSpc>
              <a:buFont typeface="Arial"/>
              <a:buChar char="•"/>
            </a:pPr>
            <a:r>
              <a:rPr lang="en-US" b="true" sz="2119">
                <a:solidFill>
                  <a:srgbClr val="BD6A73"/>
                </a:solidFill>
                <a:latin typeface="Canva Sans Bold"/>
                <a:ea typeface="Canva Sans Bold"/>
                <a:cs typeface="Canva Sans Bold"/>
                <a:sym typeface="Canva Sans Bold"/>
              </a:rPr>
              <a:t>Digital bridge between students, campus organization, and administration</a:t>
            </a:r>
          </a:p>
          <a:p>
            <a:pPr algn="just" marL="457642" indent="-228821" lvl="1">
              <a:lnSpc>
                <a:spcPts val="2967"/>
              </a:lnSpc>
              <a:buFont typeface="Arial"/>
              <a:buChar char="•"/>
            </a:pPr>
            <a:r>
              <a:rPr lang="en-US" b="true" sz="2119">
                <a:solidFill>
                  <a:srgbClr val="BD6A73"/>
                </a:solidFill>
                <a:latin typeface="Canva Sans Bold"/>
                <a:ea typeface="Canva Sans Bold"/>
                <a:cs typeface="Canva Sans Bold"/>
                <a:sym typeface="Canva Sans Bold"/>
              </a:rPr>
              <a:t>Share thoughts, concerns and feedback about the services</a:t>
            </a:r>
          </a:p>
        </p:txBody>
      </p:sp>
      <p:sp>
        <p:nvSpPr>
          <p:cNvPr name="TextBox 84" id="84"/>
          <p:cNvSpPr txBox="true"/>
          <p:nvPr/>
        </p:nvSpPr>
        <p:spPr>
          <a:xfrm rot="0">
            <a:off x="2284853" y="946329"/>
            <a:ext cx="6197600" cy="548002"/>
          </a:xfrm>
          <a:prstGeom prst="rect">
            <a:avLst/>
          </a:prstGeom>
        </p:spPr>
        <p:txBody>
          <a:bodyPr anchor="t" rtlCol="false" tIns="0" lIns="0" bIns="0" rIns="0">
            <a:spAutoFit/>
          </a:bodyPr>
          <a:lstStyle/>
          <a:p>
            <a:pPr algn="ctr">
              <a:lnSpc>
                <a:spcPts val="4445"/>
              </a:lnSpc>
            </a:pPr>
            <a:r>
              <a:rPr lang="en-US" b="true" sz="3175">
                <a:solidFill>
                  <a:srgbClr val="BD6A73"/>
                </a:solidFill>
                <a:latin typeface="Tomorrow Bold"/>
                <a:ea typeface="Tomorrow Bold"/>
                <a:cs typeface="Tomorrow Bold"/>
                <a:sym typeface="Tomorrow Bold"/>
              </a:rPr>
              <a:t>WebSystems and Technology</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2B59D"/>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FFFFF"/>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76670">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76670">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FFFFF"/>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76670">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FFFFF"/>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76670">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76670">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FFFFF"/>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E8B0B8"/>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E8B0B8"/>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2B59D"/>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2B59D"/>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1571447" y="8715223"/>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C936A"/>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5691277" y="6923936"/>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C936A"/>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C936A"/>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C936A"/>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C936A"/>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451967" y="3559197"/>
            <a:ext cx="11683095" cy="3185794"/>
          </a:xfrm>
          <a:prstGeom prst="rect">
            <a:avLst/>
          </a:prstGeom>
        </p:spPr>
        <p:txBody>
          <a:bodyPr anchor="t" rtlCol="false" tIns="0" lIns="0" bIns="0" rIns="0">
            <a:spAutoFit/>
          </a:bodyPr>
          <a:lstStyle/>
          <a:p>
            <a:pPr algn="just">
              <a:lnSpc>
                <a:spcPts val="5063"/>
              </a:lnSpc>
            </a:pPr>
            <a:r>
              <a:rPr lang="en-US" b="true" sz="3617">
                <a:solidFill>
                  <a:srgbClr val="FFFFFF"/>
                </a:solidFill>
                <a:latin typeface="Canva Sans Bold"/>
                <a:ea typeface="Canva Sans Bold"/>
                <a:cs typeface="Canva Sans Bold"/>
                <a:sym typeface="Canva Sans Bold"/>
              </a:rPr>
              <a:t>Is an exclusive online community platform designed to connect students of Bicol University - Polangui.  It is made to bridge the gap of expressing one’s feelings and expression towards themselves and also the opinion about the school. </a:t>
            </a:r>
          </a:p>
        </p:txBody>
      </p:sp>
      <p:sp>
        <p:nvSpPr>
          <p:cNvPr name="TextBox 79" id="79"/>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FFFFFF"/>
                </a:solidFill>
                <a:latin typeface="Tomorrow"/>
                <a:ea typeface="Tomorrow"/>
                <a:cs typeface="Tomorrow"/>
                <a:sym typeface="Tomorrow"/>
              </a:rPr>
              <a:t>Learn</a:t>
            </a:r>
          </a:p>
        </p:txBody>
      </p:sp>
      <p:sp>
        <p:nvSpPr>
          <p:cNvPr name="TextBox 80" id="80"/>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FFFFFF"/>
                </a:solidFill>
                <a:latin typeface="Tomorrow"/>
                <a:ea typeface="Tomorrow"/>
                <a:cs typeface="Tomorrow"/>
                <a:sym typeface="Tomorrow"/>
              </a:rPr>
              <a:t>Discover</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FFD1B8"/>
                </a:solidFill>
                <a:latin typeface="Fatimi"/>
                <a:ea typeface="Fatimi"/>
                <a:cs typeface="Fatimi"/>
                <a:sym typeface="Fatimi"/>
              </a:rPr>
              <a:t>DEAR  BUP</a:t>
            </a:r>
          </a:p>
        </p:txBody>
      </p:sp>
      <p:sp>
        <p:nvSpPr>
          <p:cNvPr name="TextBox 82" id="82"/>
          <p:cNvSpPr txBox="true"/>
          <p:nvPr/>
        </p:nvSpPr>
        <p:spPr>
          <a:xfrm rot="0">
            <a:off x="3106017" y="768972"/>
            <a:ext cx="3855244" cy="821055"/>
          </a:xfrm>
          <a:prstGeom prst="rect">
            <a:avLst/>
          </a:prstGeom>
        </p:spPr>
        <p:txBody>
          <a:bodyPr anchor="t" rtlCol="false" tIns="0" lIns="0" bIns="0" rIns="0">
            <a:spAutoFit/>
          </a:bodyPr>
          <a:lstStyle/>
          <a:p>
            <a:pPr algn="ctr">
              <a:lnSpc>
                <a:spcPts val="6719"/>
              </a:lnSpc>
            </a:pPr>
            <a:r>
              <a:rPr lang="en-US" b="true" sz="4800">
                <a:solidFill>
                  <a:srgbClr val="B76670"/>
                </a:solidFill>
                <a:latin typeface="Tomorrow Bold"/>
                <a:ea typeface="Tomorrow Bold"/>
                <a:cs typeface="Tomorrow Bold"/>
                <a:sym typeface="Tomorrow Bold"/>
              </a:rPr>
              <a:t>WHAT IS IT?</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1B29C"/>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EDE2D8"/>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D6A73">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D6A73">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EDE2D8"/>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D6A73">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EDE2D8"/>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D6A73">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D6A73">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EDE2D8"/>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645" y="8706454"/>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2802039"/>
            <a:ext cx="11934222" cy="4622162"/>
          </a:xfrm>
          <a:prstGeom prst="rect">
            <a:avLst/>
          </a:prstGeom>
        </p:spPr>
        <p:txBody>
          <a:bodyPr anchor="t" rtlCol="false" tIns="0" lIns="0" bIns="0" rIns="0">
            <a:spAutoFit/>
          </a:bodyPr>
          <a:lstStyle/>
          <a:p>
            <a:pPr algn="just">
              <a:lnSpc>
                <a:spcPts val="4585"/>
              </a:lnSpc>
            </a:pPr>
          </a:p>
          <a:p>
            <a:pPr algn="just" marL="707096" indent="-353548" lvl="1">
              <a:lnSpc>
                <a:spcPts val="4585"/>
              </a:lnSpc>
              <a:buFont typeface="Arial"/>
              <a:buChar char="•"/>
            </a:pPr>
            <a:r>
              <a:rPr lang="en-US" b="true" sz="3275">
                <a:solidFill>
                  <a:srgbClr val="D8AE83"/>
                </a:solidFill>
                <a:latin typeface="Canva Sans Bold"/>
                <a:ea typeface="Canva Sans Bold"/>
                <a:cs typeface="Canva Sans Bold"/>
                <a:sym typeface="Canva Sans Bold"/>
              </a:rPr>
              <a:t>User Interface:</a:t>
            </a:r>
            <a:r>
              <a:rPr lang="en-US" b="true" sz="3275">
                <a:solidFill>
                  <a:srgbClr val="BD6A73"/>
                </a:solidFill>
                <a:latin typeface="Canva Sans Bold"/>
                <a:ea typeface="Canva Sans Bold"/>
                <a:cs typeface="Canva Sans Bold"/>
                <a:sym typeface="Canva Sans Bold"/>
              </a:rPr>
              <a:t> Developed using R</a:t>
            </a:r>
            <a:r>
              <a:rPr lang="en-US" b="true" sz="3275">
                <a:solidFill>
                  <a:srgbClr val="BD6A73"/>
                </a:solidFill>
                <a:latin typeface="Canva Sans Bold"/>
                <a:ea typeface="Canva Sans Bold"/>
                <a:cs typeface="Canva Sans Bold"/>
                <a:sym typeface="Canva Sans Bold"/>
              </a:rPr>
              <a:t>eact and HTML Templates to create a dynamic and responsive user experience.</a:t>
            </a:r>
          </a:p>
          <a:p>
            <a:pPr algn="just" marL="707096" indent="-353548" lvl="1">
              <a:lnSpc>
                <a:spcPts val="4585"/>
              </a:lnSpc>
              <a:buFont typeface="Arial"/>
              <a:buChar char="•"/>
            </a:pPr>
            <a:r>
              <a:rPr lang="en-US" b="true" sz="3275">
                <a:solidFill>
                  <a:srgbClr val="D8AE83"/>
                </a:solidFill>
                <a:latin typeface="Canva Sans Bold"/>
                <a:ea typeface="Canva Sans Bold"/>
                <a:cs typeface="Canva Sans Bold"/>
                <a:sym typeface="Canva Sans Bold"/>
              </a:rPr>
              <a:t>Styling:</a:t>
            </a:r>
            <a:r>
              <a:rPr lang="en-US" b="true" sz="3275">
                <a:solidFill>
                  <a:srgbClr val="BD6A73"/>
                </a:solidFill>
                <a:latin typeface="Canva Sans Bold"/>
                <a:ea typeface="Canva Sans Bold"/>
                <a:cs typeface="Canva Sans Bold"/>
                <a:sym typeface="Canva Sans Bold"/>
              </a:rPr>
              <a:t> Utilizes Tailwind CSS or CSS for modern, mobile-friendly design. </a:t>
            </a:r>
          </a:p>
          <a:p>
            <a:pPr algn="just" marL="707096" indent="-353548" lvl="1">
              <a:lnSpc>
                <a:spcPts val="4585"/>
              </a:lnSpc>
              <a:buFont typeface="Arial"/>
              <a:buChar char="•"/>
            </a:pPr>
            <a:r>
              <a:rPr lang="en-US" b="true" sz="3275">
                <a:solidFill>
                  <a:srgbClr val="D8AE83"/>
                </a:solidFill>
                <a:latin typeface="Canva Sans Bold"/>
                <a:ea typeface="Canva Sans Bold"/>
                <a:cs typeface="Canva Sans Bold"/>
                <a:sym typeface="Canva Sans Bold"/>
              </a:rPr>
              <a:t>Core Logic:</a:t>
            </a:r>
            <a:r>
              <a:rPr lang="en-US" b="true" sz="3275">
                <a:solidFill>
                  <a:srgbClr val="BD6A73"/>
                </a:solidFill>
                <a:latin typeface="Canva Sans Bold"/>
                <a:ea typeface="Canva Sans Bold"/>
                <a:cs typeface="Canva Sans Bold"/>
                <a:sym typeface="Canva Sans Bold"/>
              </a:rPr>
              <a:t> Powered by JavaScript to handle client-side interactivity. </a:t>
            </a:r>
          </a:p>
        </p:txBody>
      </p:sp>
      <p:sp>
        <p:nvSpPr>
          <p:cNvPr name="TextBox 79" id="79"/>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FFFFFF"/>
                </a:solidFill>
                <a:latin typeface="Tomorrow"/>
                <a:ea typeface="Tomorrow"/>
                <a:cs typeface="Tomorrow"/>
                <a:sym typeface="Tomorrow"/>
              </a:rPr>
              <a:t>Learn</a:t>
            </a:r>
          </a:p>
        </p:txBody>
      </p:sp>
      <p:sp>
        <p:nvSpPr>
          <p:cNvPr name="TextBox 80" id="80"/>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FFFFFF"/>
                </a:solidFill>
                <a:latin typeface="Tomorrow"/>
                <a:ea typeface="Tomorrow"/>
                <a:cs typeface="Tomorrow"/>
                <a:sym typeface="Tomorrow"/>
              </a:rPr>
              <a:t>Discover</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FFFFFF"/>
                </a:solidFill>
                <a:latin typeface="Fatimi"/>
                <a:ea typeface="Fatimi"/>
                <a:cs typeface="Fatimi"/>
                <a:sym typeface="Fatimi"/>
              </a:rPr>
              <a:t>DEAR  BUP</a:t>
            </a:r>
          </a:p>
        </p:txBody>
      </p:sp>
      <p:sp>
        <p:nvSpPr>
          <p:cNvPr name="TextBox 82" id="82"/>
          <p:cNvSpPr txBox="true"/>
          <p:nvPr/>
        </p:nvSpPr>
        <p:spPr>
          <a:xfrm rot="0">
            <a:off x="2303117" y="797443"/>
            <a:ext cx="5180707" cy="764540"/>
          </a:xfrm>
          <a:prstGeom prst="rect">
            <a:avLst/>
          </a:prstGeom>
        </p:spPr>
        <p:txBody>
          <a:bodyPr anchor="t" rtlCol="false" tIns="0" lIns="0" bIns="0" rIns="0">
            <a:spAutoFit/>
          </a:bodyPr>
          <a:lstStyle/>
          <a:p>
            <a:pPr algn="ctr">
              <a:lnSpc>
                <a:spcPts val="6160"/>
              </a:lnSpc>
            </a:pPr>
            <a:r>
              <a:rPr lang="en-US" sz="4400" b="true">
                <a:solidFill>
                  <a:srgbClr val="BD6A73"/>
                </a:solidFill>
                <a:latin typeface="Tomorrow Bold"/>
                <a:ea typeface="Tomorrow Bold"/>
                <a:cs typeface="Tomorrow Bold"/>
                <a:sym typeface="Tomorrow Bold"/>
              </a:rPr>
              <a:t>Technology Stack</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slow">
    <p:fade/>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1B29C"/>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EDE2D8"/>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D6A73">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D6A73">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EDE2D8"/>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D6A73">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EDE2D8"/>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D6A73">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D6A73">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EDE2D8"/>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645" y="8706454"/>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2802039"/>
            <a:ext cx="11934222" cy="5203187"/>
          </a:xfrm>
          <a:prstGeom prst="rect">
            <a:avLst/>
          </a:prstGeom>
        </p:spPr>
        <p:txBody>
          <a:bodyPr anchor="t" rtlCol="false" tIns="0" lIns="0" bIns="0" rIns="0">
            <a:spAutoFit/>
          </a:bodyPr>
          <a:lstStyle/>
          <a:p>
            <a:pPr algn="just">
              <a:lnSpc>
                <a:spcPts val="4585"/>
              </a:lnSpc>
            </a:pPr>
            <a:r>
              <a:rPr lang="en-US" sz="3275" b="true">
                <a:solidFill>
                  <a:srgbClr val="BD6A73"/>
                </a:solidFill>
                <a:latin typeface="Canva Sans Bold"/>
                <a:ea typeface="Canva Sans Bold"/>
                <a:cs typeface="Canva Sans Bold"/>
                <a:sym typeface="Canva Sans Bold"/>
              </a:rPr>
              <a:t>Backend (Serv</a:t>
            </a:r>
            <a:r>
              <a:rPr lang="en-US" sz="3275" b="true">
                <a:solidFill>
                  <a:srgbClr val="BD6A73"/>
                </a:solidFill>
                <a:latin typeface="Canva Sans Bold"/>
                <a:ea typeface="Canva Sans Bold"/>
                <a:cs typeface="Canva Sans Bold"/>
                <a:sym typeface="Canva Sans Bold"/>
              </a:rPr>
              <a:t>er-Side)</a:t>
            </a:r>
          </a:p>
          <a:p>
            <a:pPr algn="just" marL="707096" indent="-353548" lvl="1">
              <a:lnSpc>
                <a:spcPts val="4585"/>
              </a:lnSpc>
              <a:buFont typeface="Arial"/>
              <a:buChar char="•"/>
            </a:pPr>
            <a:r>
              <a:rPr lang="en-US" b="true" sz="3275">
                <a:solidFill>
                  <a:srgbClr val="9E9AC6"/>
                </a:solidFill>
                <a:latin typeface="Canva Sans Bold"/>
                <a:ea typeface="Canva Sans Bold"/>
                <a:cs typeface="Canva Sans Bold"/>
                <a:sym typeface="Canva Sans Bold"/>
              </a:rPr>
              <a:t>Runtime Environment:</a:t>
            </a:r>
            <a:r>
              <a:rPr lang="en-US" b="true" sz="3275">
                <a:solidFill>
                  <a:srgbClr val="BD6A73"/>
                </a:solidFill>
                <a:latin typeface="Canva Sans Bold"/>
                <a:ea typeface="Canva Sans Bold"/>
                <a:cs typeface="Canva Sans Bold"/>
                <a:sym typeface="Canva Sans Bold"/>
              </a:rPr>
              <a:t> Built on Node.js, providing a</a:t>
            </a:r>
            <a:r>
              <a:rPr lang="en-US" b="true" sz="3275">
                <a:solidFill>
                  <a:srgbClr val="BD6A73"/>
                </a:solidFill>
                <a:latin typeface="Canva Sans Bold"/>
                <a:ea typeface="Canva Sans Bold"/>
                <a:cs typeface="Canva Sans Bold"/>
                <a:sym typeface="Canva Sans Bold"/>
              </a:rPr>
              <a:t> s</a:t>
            </a:r>
            <a:r>
              <a:rPr lang="en-US" b="true" sz="3275">
                <a:solidFill>
                  <a:srgbClr val="BD6A73"/>
                </a:solidFill>
                <a:latin typeface="Canva Sans Bold"/>
                <a:ea typeface="Canva Sans Bold"/>
                <a:cs typeface="Canva Sans Bold"/>
                <a:sym typeface="Canva Sans Bold"/>
              </a:rPr>
              <a:t>ca</a:t>
            </a:r>
            <a:r>
              <a:rPr lang="en-US" b="true" sz="3275">
                <a:solidFill>
                  <a:srgbClr val="BD6A73"/>
                </a:solidFill>
                <a:latin typeface="Canva Sans Bold"/>
                <a:ea typeface="Canva Sans Bold"/>
                <a:cs typeface="Canva Sans Bold"/>
                <a:sym typeface="Canva Sans Bold"/>
              </a:rPr>
              <a:t>lable</a:t>
            </a:r>
            <a:r>
              <a:rPr lang="en-US" b="true" sz="3275">
                <a:solidFill>
                  <a:srgbClr val="BD6A73"/>
                </a:solidFill>
                <a:latin typeface="Canva Sans Bold"/>
                <a:ea typeface="Canva Sans Bold"/>
                <a:cs typeface="Canva Sans Bold"/>
                <a:sym typeface="Canva Sans Bold"/>
              </a:rPr>
              <a:t> e</a:t>
            </a:r>
            <a:r>
              <a:rPr lang="en-US" b="true" sz="3275">
                <a:solidFill>
                  <a:srgbClr val="BD6A73"/>
                </a:solidFill>
                <a:latin typeface="Canva Sans Bold"/>
                <a:ea typeface="Canva Sans Bold"/>
                <a:cs typeface="Canva Sans Bold"/>
                <a:sym typeface="Canva Sans Bold"/>
              </a:rPr>
              <a:t>nviron</a:t>
            </a:r>
            <a:r>
              <a:rPr lang="en-US" b="true" sz="3275">
                <a:solidFill>
                  <a:srgbClr val="BD6A73"/>
                </a:solidFill>
                <a:latin typeface="Canva Sans Bold"/>
                <a:ea typeface="Canva Sans Bold"/>
                <a:cs typeface="Canva Sans Bold"/>
                <a:sym typeface="Canva Sans Bold"/>
              </a:rPr>
              <a:t>m</a:t>
            </a:r>
            <a:r>
              <a:rPr lang="en-US" b="true" sz="3275">
                <a:solidFill>
                  <a:srgbClr val="BD6A73"/>
                </a:solidFill>
                <a:latin typeface="Canva Sans Bold"/>
                <a:ea typeface="Canva Sans Bold"/>
                <a:cs typeface="Canva Sans Bold"/>
                <a:sym typeface="Canva Sans Bold"/>
              </a:rPr>
              <a:t>en</a:t>
            </a:r>
            <a:r>
              <a:rPr lang="en-US" b="true" sz="3275">
                <a:solidFill>
                  <a:srgbClr val="BD6A73"/>
                </a:solidFill>
                <a:latin typeface="Canva Sans Bold"/>
                <a:ea typeface="Canva Sans Bold"/>
                <a:cs typeface="Canva Sans Bold"/>
                <a:sym typeface="Canva Sans Bold"/>
              </a:rPr>
              <a:t>t </a:t>
            </a:r>
            <a:r>
              <a:rPr lang="en-US" b="true" sz="3275">
                <a:solidFill>
                  <a:srgbClr val="BD6A73"/>
                </a:solidFill>
                <a:latin typeface="Canva Sans Bold"/>
                <a:ea typeface="Canva Sans Bold"/>
                <a:cs typeface="Canva Sans Bold"/>
                <a:sym typeface="Canva Sans Bold"/>
              </a:rPr>
              <a:t>f</a:t>
            </a:r>
            <a:r>
              <a:rPr lang="en-US" b="true" sz="3275">
                <a:solidFill>
                  <a:srgbClr val="BD6A73"/>
                </a:solidFill>
                <a:latin typeface="Canva Sans Bold"/>
                <a:ea typeface="Canva Sans Bold"/>
                <a:cs typeface="Canva Sans Bold"/>
                <a:sym typeface="Canva Sans Bold"/>
              </a:rPr>
              <a:t>o</a:t>
            </a:r>
            <a:r>
              <a:rPr lang="en-US" b="true" sz="3275">
                <a:solidFill>
                  <a:srgbClr val="BD6A73"/>
                </a:solidFill>
                <a:latin typeface="Canva Sans Bold"/>
                <a:ea typeface="Canva Sans Bold"/>
                <a:cs typeface="Canva Sans Bold"/>
                <a:sym typeface="Canva Sans Bold"/>
              </a:rPr>
              <a:t>r</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se</a:t>
            </a:r>
            <a:r>
              <a:rPr lang="en-US" b="true" sz="3275">
                <a:solidFill>
                  <a:srgbClr val="BD6A73"/>
                </a:solidFill>
                <a:latin typeface="Canva Sans Bold"/>
                <a:ea typeface="Canva Sans Bold"/>
                <a:cs typeface="Canva Sans Bold"/>
                <a:sym typeface="Canva Sans Bold"/>
              </a:rPr>
              <a:t>r</a:t>
            </a:r>
            <a:r>
              <a:rPr lang="en-US" b="true" sz="3275">
                <a:solidFill>
                  <a:srgbClr val="BD6A73"/>
                </a:solidFill>
                <a:latin typeface="Canva Sans Bold"/>
                <a:ea typeface="Canva Sans Bold"/>
                <a:cs typeface="Canva Sans Bold"/>
                <a:sym typeface="Canva Sans Bold"/>
              </a:rPr>
              <a:t>v</a:t>
            </a:r>
            <a:r>
              <a:rPr lang="en-US" b="true" sz="3275">
                <a:solidFill>
                  <a:srgbClr val="BD6A73"/>
                </a:solidFill>
                <a:latin typeface="Canva Sans Bold"/>
                <a:ea typeface="Canva Sans Bold"/>
                <a:cs typeface="Canva Sans Bold"/>
                <a:sym typeface="Canva Sans Bold"/>
              </a:rPr>
              <a:t>e</a:t>
            </a:r>
            <a:r>
              <a:rPr lang="en-US" b="true" sz="3275">
                <a:solidFill>
                  <a:srgbClr val="BD6A73"/>
                </a:solidFill>
                <a:latin typeface="Canva Sans Bold"/>
                <a:ea typeface="Canva Sans Bold"/>
                <a:cs typeface="Canva Sans Bold"/>
                <a:sym typeface="Canva Sans Bold"/>
              </a:rPr>
              <a:t>r-side oper</a:t>
            </a:r>
            <a:r>
              <a:rPr lang="en-US" b="true" sz="3275">
                <a:solidFill>
                  <a:srgbClr val="BD6A73"/>
                </a:solidFill>
                <a:latin typeface="Canva Sans Bold"/>
                <a:ea typeface="Canva Sans Bold"/>
                <a:cs typeface="Canva Sans Bold"/>
                <a:sym typeface="Canva Sans Bold"/>
              </a:rPr>
              <a:t>at</a:t>
            </a:r>
            <a:r>
              <a:rPr lang="en-US" b="true" sz="3275">
                <a:solidFill>
                  <a:srgbClr val="BD6A73"/>
                </a:solidFill>
                <a:latin typeface="Canva Sans Bold"/>
                <a:ea typeface="Canva Sans Bold"/>
                <a:cs typeface="Canva Sans Bold"/>
                <a:sym typeface="Canva Sans Bold"/>
              </a:rPr>
              <a:t>ions. </a:t>
            </a:r>
          </a:p>
          <a:p>
            <a:pPr algn="just" marL="707096" indent="-353548" lvl="1">
              <a:lnSpc>
                <a:spcPts val="4585"/>
              </a:lnSpc>
              <a:buFont typeface="Arial"/>
              <a:buChar char="•"/>
            </a:pPr>
            <a:r>
              <a:rPr lang="en-US" b="true" sz="3275">
                <a:solidFill>
                  <a:srgbClr val="9E9AC6"/>
                </a:solidFill>
                <a:latin typeface="Canva Sans Bold"/>
                <a:ea typeface="Canva Sans Bold"/>
                <a:cs typeface="Canva Sans Bold"/>
                <a:sym typeface="Canva Sans Bold"/>
              </a:rPr>
              <a:t>W</a:t>
            </a:r>
            <a:r>
              <a:rPr lang="en-US" b="true" sz="3275">
                <a:solidFill>
                  <a:srgbClr val="9E9AC6"/>
                </a:solidFill>
                <a:latin typeface="Canva Sans Bold"/>
                <a:ea typeface="Canva Sans Bold"/>
                <a:cs typeface="Canva Sans Bold"/>
                <a:sym typeface="Canva Sans Bold"/>
              </a:rPr>
              <a:t>e</a:t>
            </a:r>
            <a:r>
              <a:rPr lang="en-US" b="true" sz="3275">
                <a:solidFill>
                  <a:srgbClr val="9E9AC6"/>
                </a:solidFill>
                <a:latin typeface="Canva Sans Bold"/>
                <a:ea typeface="Canva Sans Bold"/>
                <a:cs typeface="Canva Sans Bold"/>
                <a:sym typeface="Canva Sans Bold"/>
              </a:rPr>
              <a:t>b</a:t>
            </a:r>
            <a:r>
              <a:rPr lang="en-US" b="true" sz="3275">
                <a:solidFill>
                  <a:srgbClr val="9E9AC6"/>
                </a:solidFill>
                <a:latin typeface="Canva Sans Bold"/>
                <a:ea typeface="Canva Sans Bold"/>
                <a:cs typeface="Canva Sans Bold"/>
                <a:sym typeface="Canva Sans Bold"/>
              </a:rPr>
              <a:t> </a:t>
            </a:r>
            <a:r>
              <a:rPr lang="en-US" b="true" sz="3275">
                <a:solidFill>
                  <a:srgbClr val="9E9AC6"/>
                </a:solidFill>
                <a:latin typeface="Canva Sans Bold"/>
                <a:ea typeface="Canva Sans Bold"/>
                <a:cs typeface="Canva Sans Bold"/>
                <a:sym typeface="Canva Sans Bold"/>
              </a:rPr>
              <a:t>Fr</a:t>
            </a:r>
            <a:r>
              <a:rPr lang="en-US" b="true" sz="3275">
                <a:solidFill>
                  <a:srgbClr val="9E9AC6"/>
                </a:solidFill>
                <a:latin typeface="Canva Sans Bold"/>
                <a:ea typeface="Canva Sans Bold"/>
                <a:cs typeface="Canva Sans Bold"/>
                <a:sym typeface="Canva Sans Bold"/>
              </a:rPr>
              <a:t>a</a:t>
            </a:r>
            <a:r>
              <a:rPr lang="en-US" b="true" sz="3275">
                <a:solidFill>
                  <a:srgbClr val="9E9AC6"/>
                </a:solidFill>
                <a:latin typeface="Canva Sans Bold"/>
                <a:ea typeface="Canva Sans Bold"/>
                <a:cs typeface="Canva Sans Bold"/>
                <a:sym typeface="Canva Sans Bold"/>
              </a:rPr>
              <a:t>mework:</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Emplo</a:t>
            </a:r>
            <a:r>
              <a:rPr lang="en-US" b="true" sz="3275">
                <a:solidFill>
                  <a:srgbClr val="BD6A73"/>
                </a:solidFill>
                <a:latin typeface="Canva Sans Bold"/>
                <a:ea typeface="Canva Sans Bold"/>
                <a:cs typeface="Canva Sans Bold"/>
                <a:sym typeface="Canva Sans Bold"/>
              </a:rPr>
              <a:t>y</a:t>
            </a:r>
            <a:r>
              <a:rPr lang="en-US" b="true" sz="3275">
                <a:solidFill>
                  <a:srgbClr val="BD6A73"/>
                </a:solidFill>
                <a:latin typeface="Canva Sans Bold"/>
                <a:ea typeface="Canva Sans Bold"/>
                <a:cs typeface="Canva Sans Bold"/>
                <a:sym typeface="Canva Sans Bold"/>
              </a:rPr>
              <a:t>s Express.js to ma</a:t>
            </a:r>
            <a:r>
              <a:rPr lang="en-US" b="true" sz="3275">
                <a:solidFill>
                  <a:srgbClr val="BD6A73"/>
                </a:solidFill>
                <a:latin typeface="Canva Sans Bold"/>
                <a:ea typeface="Canva Sans Bold"/>
                <a:cs typeface="Canva Sans Bold"/>
                <a:sym typeface="Canva Sans Bold"/>
              </a:rPr>
              <a:t>na</a:t>
            </a:r>
            <a:r>
              <a:rPr lang="en-US" b="true" sz="3275">
                <a:solidFill>
                  <a:srgbClr val="BD6A73"/>
                </a:solidFill>
                <a:latin typeface="Canva Sans Bold"/>
                <a:ea typeface="Canva Sans Bold"/>
                <a:cs typeface="Canva Sans Bold"/>
                <a:sym typeface="Canva Sans Bold"/>
              </a:rPr>
              <a:t>ge rout</a:t>
            </a:r>
            <a:r>
              <a:rPr lang="en-US" b="true" sz="3275">
                <a:solidFill>
                  <a:srgbClr val="BD6A73"/>
                </a:solidFill>
                <a:latin typeface="Canva Sans Bold"/>
                <a:ea typeface="Canva Sans Bold"/>
                <a:cs typeface="Canva Sans Bold"/>
                <a:sym typeface="Canva Sans Bold"/>
              </a:rPr>
              <a:t>i</a:t>
            </a:r>
            <a:r>
              <a:rPr lang="en-US" b="true" sz="3275">
                <a:solidFill>
                  <a:srgbClr val="BD6A73"/>
                </a:solidFill>
                <a:latin typeface="Canva Sans Bold"/>
                <a:ea typeface="Canva Sans Bold"/>
                <a:cs typeface="Canva Sans Bold"/>
                <a:sym typeface="Canva Sans Bold"/>
              </a:rPr>
              <a:t>ng</a:t>
            </a:r>
            <a:r>
              <a:rPr lang="en-US" b="true" sz="3275">
                <a:solidFill>
                  <a:srgbClr val="BD6A73"/>
                </a:solidFill>
                <a:latin typeface="Canva Sans Bold"/>
                <a:ea typeface="Canva Sans Bold"/>
                <a:cs typeface="Canva Sans Bold"/>
                <a:sym typeface="Canva Sans Bold"/>
              </a:rPr>
              <a:t> and</a:t>
            </a:r>
            <a:r>
              <a:rPr lang="en-US" b="true" sz="3275">
                <a:solidFill>
                  <a:srgbClr val="BD6A73"/>
                </a:solidFill>
                <a:latin typeface="Canva Sans Bold"/>
                <a:ea typeface="Canva Sans Bold"/>
                <a:cs typeface="Canva Sans Bold"/>
                <a:sym typeface="Canva Sans Bold"/>
              </a:rPr>
              <a:t> HTTP</a:t>
            </a:r>
            <a:r>
              <a:rPr lang="en-US" b="true" sz="3275">
                <a:solidFill>
                  <a:srgbClr val="BD6A73"/>
                </a:solidFill>
                <a:latin typeface="Canva Sans Bold"/>
                <a:ea typeface="Canva Sans Bold"/>
                <a:cs typeface="Canva Sans Bold"/>
                <a:sym typeface="Canva Sans Bold"/>
              </a:rPr>
              <a:t> re</a:t>
            </a:r>
            <a:r>
              <a:rPr lang="en-US" b="true" sz="3275">
                <a:solidFill>
                  <a:srgbClr val="BD6A73"/>
                </a:solidFill>
                <a:latin typeface="Canva Sans Bold"/>
                <a:ea typeface="Canva Sans Bold"/>
                <a:cs typeface="Canva Sans Bold"/>
                <a:sym typeface="Canva Sans Bold"/>
              </a:rPr>
              <a:t>que</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t</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a:t>
            </a:r>
            <a:r>
              <a:rPr lang="en-US" b="true" sz="3275">
                <a:solidFill>
                  <a:srgbClr val="BD6A73"/>
                </a:solidFill>
                <a:latin typeface="Canva Sans Bold"/>
                <a:ea typeface="Canva Sans Bold"/>
                <a:cs typeface="Canva Sans Bold"/>
                <a:sym typeface="Canva Sans Bold"/>
              </a:rPr>
              <a:t> </a:t>
            </a:r>
          </a:p>
          <a:p>
            <a:pPr algn="just" marL="707096" indent="-353548" lvl="1">
              <a:lnSpc>
                <a:spcPts val="4585"/>
              </a:lnSpc>
              <a:buFont typeface="Arial"/>
              <a:buChar char="•"/>
            </a:pPr>
            <a:r>
              <a:rPr lang="en-US" b="true" sz="3275">
                <a:solidFill>
                  <a:srgbClr val="9E9AC6"/>
                </a:solidFill>
                <a:latin typeface="Canva Sans Bold"/>
                <a:ea typeface="Canva Sans Bold"/>
                <a:cs typeface="Canva Sans Bold"/>
                <a:sym typeface="Canva Sans Bold"/>
              </a:rPr>
              <a:t>A</a:t>
            </a:r>
            <a:r>
              <a:rPr lang="en-US" b="true" sz="3275">
                <a:solidFill>
                  <a:srgbClr val="9E9AC6"/>
                </a:solidFill>
                <a:latin typeface="Canva Sans Bold"/>
                <a:ea typeface="Canva Sans Bold"/>
                <a:cs typeface="Canva Sans Bold"/>
                <a:sym typeface="Canva Sans Bold"/>
              </a:rPr>
              <a:t>u</a:t>
            </a:r>
            <a:r>
              <a:rPr lang="en-US" b="true" sz="3275">
                <a:solidFill>
                  <a:srgbClr val="9E9AC6"/>
                </a:solidFill>
                <a:latin typeface="Canva Sans Bold"/>
                <a:ea typeface="Canva Sans Bold"/>
                <a:cs typeface="Canva Sans Bold"/>
                <a:sym typeface="Canva Sans Bold"/>
              </a:rPr>
              <a:t>th</a:t>
            </a:r>
            <a:r>
              <a:rPr lang="en-US" b="true" sz="3275">
                <a:solidFill>
                  <a:srgbClr val="9E9AC6"/>
                </a:solidFill>
                <a:latin typeface="Canva Sans Bold"/>
                <a:ea typeface="Canva Sans Bold"/>
                <a:cs typeface="Canva Sans Bold"/>
                <a:sym typeface="Canva Sans Bold"/>
              </a:rPr>
              <a:t>e</a:t>
            </a:r>
            <a:r>
              <a:rPr lang="en-US" b="true" sz="3275">
                <a:solidFill>
                  <a:srgbClr val="9E9AC6"/>
                </a:solidFill>
                <a:latin typeface="Canva Sans Bold"/>
                <a:ea typeface="Canva Sans Bold"/>
                <a:cs typeface="Canva Sans Bold"/>
                <a:sym typeface="Canva Sans Bold"/>
              </a:rPr>
              <a:t>ntication</a:t>
            </a:r>
            <a:r>
              <a:rPr lang="en-US" b="true" sz="3275">
                <a:solidFill>
                  <a:srgbClr val="9E9AC6"/>
                </a:solidFill>
                <a:latin typeface="Canva Sans Bold"/>
                <a:ea typeface="Canva Sans Bold"/>
                <a:cs typeface="Canva Sans Bold"/>
                <a:sym typeface="Canva Sans Bold"/>
              </a:rPr>
              <a:t> </a:t>
            </a:r>
            <a:r>
              <a:rPr lang="en-US" b="true" sz="3275">
                <a:solidFill>
                  <a:srgbClr val="9E9AC6"/>
                </a:solidFill>
                <a:latin typeface="Canva Sans Bold"/>
                <a:ea typeface="Canva Sans Bold"/>
                <a:cs typeface="Canva Sans Bold"/>
                <a:sym typeface="Canva Sans Bold"/>
              </a:rPr>
              <a:t>&amp; S</a:t>
            </a:r>
            <a:r>
              <a:rPr lang="en-US" b="true" sz="3275">
                <a:solidFill>
                  <a:srgbClr val="9E9AC6"/>
                </a:solidFill>
                <a:latin typeface="Canva Sans Bold"/>
                <a:ea typeface="Canva Sans Bold"/>
                <a:cs typeface="Canva Sans Bold"/>
                <a:sym typeface="Canva Sans Bold"/>
              </a:rPr>
              <a:t>e</a:t>
            </a:r>
            <a:r>
              <a:rPr lang="en-US" b="true" sz="3275">
                <a:solidFill>
                  <a:srgbClr val="9E9AC6"/>
                </a:solidFill>
                <a:latin typeface="Canva Sans Bold"/>
                <a:ea typeface="Canva Sans Bold"/>
                <a:cs typeface="Canva Sans Bold"/>
                <a:sym typeface="Canva Sans Bold"/>
              </a:rPr>
              <a:t>cu</a:t>
            </a:r>
            <a:r>
              <a:rPr lang="en-US" b="true" sz="3275">
                <a:solidFill>
                  <a:srgbClr val="9E9AC6"/>
                </a:solidFill>
                <a:latin typeface="Canva Sans Bold"/>
                <a:ea typeface="Canva Sans Bold"/>
                <a:cs typeface="Canva Sans Bold"/>
                <a:sym typeface="Canva Sans Bold"/>
              </a:rPr>
              <a:t>rity</a:t>
            </a:r>
            <a:r>
              <a:rPr lang="en-US" b="true" sz="3275">
                <a:solidFill>
                  <a:srgbClr val="BD6A73"/>
                </a:solidFill>
                <a:latin typeface="Canva Sans Bold"/>
                <a:ea typeface="Canva Sans Bold"/>
                <a:cs typeface="Canva Sans Bold"/>
                <a:sym typeface="Canva Sans Bold"/>
              </a:rPr>
              <a:t>:</a:t>
            </a:r>
            <a:r>
              <a:rPr lang="en-US" b="true" sz="3275">
                <a:solidFill>
                  <a:srgbClr val="BD6A73"/>
                </a:solidFill>
                <a:latin typeface="Canva Sans Bold"/>
                <a:ea typeface="Canva Sans Bold"/>
                <a:cs typeface="Canva Sans Bold"/>
                <a:sym typeface="Canva Sans Bold"/>
              </a:rPr>
              <a:t> U</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es </a:t>
            </a:r>
            <a:r>
              <a:rPr lang="en-US" b="true" sz="3275">
                <a:solidFill>
                  <a:srgbClr val="BD6A73"/>
                </a:solidFill>
                <a:latin typeface="Canva Sans Bold"/>
                <a:ea typeface="Canva Sans Bold"/>
                <a:cs typeface="Canva Sans Bold"/>
                <a:sym typeface="Canva Sans Bold"/>
              </a:rPr>
              <a:t>Auth M</a:t>
            </a:r>
            <a:r>
              <a:rPr lang="en-US" b="true" sz="3275">
                <a:solidFill>
                  <a:srgbClr val="BD6A73"/>
                </a:solidFill>
                <a:latin typeface="Canva Sans Bold"/>
                <a:ea typeface="Canva Sans Bold"/>
                <a:cs typeface="Canva Sans Bold"/>
                <a:sym typeface="Canva Sans Bold"/>
              </a:rPr>
              <a:t>i</a:t>
            </a:r>
            <a:r>
              <a:rPr lang="en-US" b="true" sz="3275">
                <a:solidFill>
                  <a:srgbClr val="BD6A73"/>
                </a:solidFill>
                <a:latin typeface="Canva Sans Bold"/>
                <a:ea typeface="Canva Sans Bold"/>
                <a:cs typeface="Canva Sans Bold"/>
                <a:sym typeface="Canva Sans Bold"/>
              </a:rPr>
              <a:t>dd</a:t>
            </a:r>
            <a:r>
              <a:rPr lang="en-US" b="true" sz="3275">
                <a:solidFill>
                  <a:srgbClr val="BD6A73"/>
                </a:solidFill>
                <a:latin typeface="Canva Sans Bold"/>
                <a:ea typeface="Canva Sans Bold"/>
                <a:cs typeface="Canva Sans Bold"/>
                <a:sym typeface="Canva Sans Bold"/>
              </a:rPr>
              <a:t>l</a:t>
            </a:r>
            <a:r>
              <a:rPr lang="en-US" b="true" sz="3275">
                <a:solidFill>
                  <a:srgbClr val="BD6A73"/>
                </a:solidFill>
                <a:latin typeface="Canva Sans Bold"/>
                <a:ea typeface="Canva Sans Bold"/>
                <a:cs typeface="Canva Sans Bold"/>
                <a:sym typeface="Canva Sans Bold"/>
              </a:rPr>
              <a:t>e</a:t>
            </a:r>
            <a:r>
              <a:rPr lang="en-US" b="true" sz="3275">
                <a:solidFill>
                  <a:srgbClr val="BD6A73"/>
                </a:solidFill>
                <a:latin typeface="Canva Sans Bold"/>
                <a:ea typeface="Canva Sans Bold"/>
                <a:cs typeface="Canva Sans Bold"/>
                <a:sym typeface="Canva Sans Bold"/>
              </a:rPr>
              <a:t>w</a:t>
            </a:r>
            <a:r>
              <a:rPr lang="en-US" b="true" sz="3275">
                <a:solidFill>
                  <a:srgbClr val="BD6A73"/>
                </a:solidFill>
                <a:latin typeface="Canva Sans Bold"/>
                <a:ea typeface="Canva Sans Bold"/>
                <a:cs typeface="Canva Sans Bold"/>
                <a:sym typeface="Canva Sans Bold"/>
              </a:rPr>
              <a:t>are</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to</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secu</a:t>
            </a:r>
            <a:r>
              <a:rPr lang="en-US" b="true" sz="3275">
                <a:solidFill>
                  <a:srgbClr val="BD6A73"/>
                </a:solidFill>
                <a:latin typeface="Canva Sans Bold"/>
                <a:ea typeface="Canva Sans Bold"/>
                <a:cs typeface="Canva Sans Bold"/>
                <a:sym typeface="Canva Sans Bold"/>
              </a:rPr>
              <a:t>r</a:t>
            </a:r>
            <a:r>
              <a:rPr lang="en-US" b="true" sz="3275">
                <a:solidFill>
                  <a:srgbClr val="BD6A73"/>
                </a:solidFill>
                <a:latin typeface="Canva Sans Bold"/>
                <a:ea typeface="Canva Sans Bold"/>
                <a:cs typeface="Canva Sans Bold"/>
                <a:sym typeface="Canva Sans Bold"/>
              </a:rPr>
              <a:t>e</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user</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acc</a:t>
            </a:r>
            <a:r>
              <a:rPr lang="en-US" b="true" sz="3275">
                <a:solidFill>
                  <a:srgbClr val="BD6A73"/>
                </a:solidFill>
                <a:latin typeface="Canva Sans Bold"/>
                <a:ea typeface="Canva Sans Bold"/>
                <a:cs typeface="Canva Sans Bold"/>
                <a:sym typeface="Canva Sans Bold"/>
              </a:rPr>
              <a:t>o</a:t>
            </a:r>
            <a:r>
              <a:rPr lang="en-US" b="true" sz="3275">
                <a:solidFill>
                  <a:srgbClr val="BD6A73"/>
                </a:solidFill>
                <a:latin typeface="Canva Sans Bold"/>
                <a:ea typeface="Canva Sans Bold"/>
                <a:cs typeface="Canva Sans Bold"/>
                <a:sym typeface="Canva Sans Bold"/>
              </a:rPr>
              <a:t>unts</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an</a:t>
            </a:r>
            <a:r>
              <a:rPr lang="en-US" b="true" sz="3275">
                <a:solidFill>
                  <a:srgbClr val="BD6A73"/>
                </a:solidFill>
                <a:latin typeface="Canva Sans Bold"/>
                <a:ea typeface="Canva Sans Bold"/>
                <a:cs typeface="Canva Sans Bold"/>
                <a:sym typeface="Canva Sans Bold"/>
              </a:rPr>
              <a:t>d</a:t>
            </a:r>
            <a:r>
              <a:rPr lang="en-US" b="true" sz="3275">
                <a:solidFill>
                  <a:srgbClr val="BD6A73"/>
                </a:solidFill>
                <a:latin typeface="Canva Sans Bold"/>
                <a:ea typeface="Canva Sans Bold"/>
                <a:cs typeface="Canva Sans Bold"/>
                <a:sym typeface="Canva Sans Bold"/>
              </a:rPr>
              <a:t> v</a:t>
            </a:r>
            <a:r>
              <a:rPr lang="en-US" b="true" sz="3275">
                <a:solidFill>
                  <a:srgbClr val="BD6A73"/>
                </a:solidFill>
                <a:latin typeface="Canva Sans Bold"/>
                <a:ea typeface="Canva Sans Bold"/>
                <a:cs typeface="Canva Sans Bold"/>
                <a:sym typeface="Canva Sans Bold"/>
              </a:rPr>
              <a:t>erify </a:t>
            </a:r>
            <a:r>
              <a:rPr lang="en-US" b="true" sz="3275">
                <a:solidFill>
                  <a:srgbClr val="BD6A73"/>
                </a:solidFill>
                <a:latin typeface="Canva Sans Bold"/>
                <a:ea typeface="Canva Sans Bold"/>
                <a:cs typeface="Canva Sans Bold"/>
                <a:sym typeface="Canva Sans Bold"/>
              </a:rPr>
              <a:t>acc</a:t>
            </a:r>
            <a:r>
              <a:rPr lang="en-US" b="true" sz="3275">
                <a:solidFill>
                  <a:srgbClr val="BD6A73"/>
                </a:solidFill>
                <a:latin typeface="Canva Sans Bold"/>
                <a:ea typeface="Canva Sans Bold"/>
                <a:cs typeface="Canva Sans Bold"/>
                <a:sym typeface="Canva Sans Bold"/>
              </a:rPr>
              <a:t>es</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 </a:t>
            </a:r>
          </a:p>
          <a:p>
            <a:pPr algn="just" marL="707096" indent="-353548" lvl="1">
              <a:lnSpc>
                <a:spcPts val="4585"/>
              </a:lnSpc>
              <a:buFont typeface="Arial"/>
              <a:buChar char="•"/>
            </a:pPr>
            <a:r>
              <a:rPr lang="en-US" b="true" sz="3275">
                <a:solidFill>
                  <a:srgbClr val="9E9AC6"/>
                </a:solidFill>
                <a:latin typeface="Canva Sans Bold"/>
                <a:ea typeface="Canva Sans Bold"/>
                <a:cs typeface="Canva Sans Bold"/>
                <a:sym typeface="Canva Sans Bold"/>
              </a:rPr>
              <a:t>API</a:t>
            </a:r>
            <a:r>
              <a:rPr lang="en-US" b="true" sz="3275">
                <a:solidFill>
                  <a:srgbClr val="9E9AC6"/>
                </a:solidFill>
                <a:latin typeface="Canva Sans Bold"/>
                <a:ea typeface="Canva Sans Bold"/>
                <a:cs typeface="Canva Sans Bold"/>
                <a:sym typeface="Canva Sans Bold"/>
              </a:rPr>
              <a:t> </a:t>
            </a:r>
            <a:r>
              <a:rPr lang="en-US" b="true" sz="3275">
                <a:solidFill>
                  <a:srgbClr val="9E9AC6"/>
                </a:solidFill>
                <a:latin typeface="Canva Sans Bold"/>
                <a:ea typeface="Canva Sans Bold"/>
                <a:cs typeface="Canva Sans Bold"/>
                <a:sym typeface="Canva Sans Bold"/>
              </a:rPr>
              <a:t>C</a:t>
            </a:r>
            <a:r>
              <a:rPr lang="en-US" b="true" sz="3275">
                <a:solidFill>
                  <a:srgbClr val="9E9AC6"/>
                </a:solidFill>
                <a:latin typeface="Canva Sans Bold"/>
                <a:ea typeface="Canva Sans Bold"/>
                <a:cs typeface="Canva Sans Bold"/>
                <a:sym typeface="Canva Sans Bold"/>
              </a:rPr>
              <a:t>o</a:t>
            </a:r>
            <a:r>
              <a:rPr lang="en-US" b="true" sz="3275">
                <a:solidFill>
                  <a:srgbClr val="9E9AC6"/>
                </a:solidFill>
                <a:latin typeface="Canva Sans Bold"/>
                <a:ea typeface="Canva Sans Bold"/>
                <a:cs typeface="Canva Sans Bold"/>
                <a:sym typeface="Canva Sans Bold"/>
              </a:rPr>
              <a:t>mmun</a:t>
            </a:r>
            <a:r>
              <a:rPr lang="en-US" b="true" sz="3275">
                <a:solidFill>
                  <a:srgbClr val="9E9AC6"/>
                </a:solidFill>
                <a:latin typeface="Canva Sans Bold"/>
                <a:ea typeface="Canva Sans Bold"/>
                <a:cs typeface="Canva Sans Bold"/>
                <a:sym typeface="Canva Sans Bold"/>
              </a:rPr>
              <a:t>ic</a:t>
            </a:r>
            <a:r>
              <a:rPr lang="en-US" b="true" sz="3275">
                <a:solidFill>
                  <a:srgbClr val="9E9AC6"/>
                </a:solidFill>
                <a:latin typeface="Canva Sans Bold"/>
                <a:ea typeface="Canva Sans Bold"/>
                <a:cs typeface="Canva Sans Bold"/>
                <a:sym typeface="Canva Sans Bold"/>
              </a:rPr>
              <a:t>ation</a:t>
            </a:r>
            <a:r>
              <a:rPr lang="en-US" b="true" sz="3275">
                <a:solidFill>
                  <a:srgbClr val="BD6A73"/>
                </a:solidFill>
                <a:latin typeface="Canva Sans Bold"/>
                <a:ea typeface="Canva Sans Bold"/>
                <a:cs typeface="Canva Sans Bold"/>
                <a:sym typeface="Canva Sans Bold"/>
              </a:rPr>
              <a:t>:</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Us</a:t>
            </a:r>
            <a:r>
              <a:rPr lang="en-US" b="true" sz="3275">
                <a:solidFill>
                  <a:srgbClr val="BD6A73"/>
                </a:solidFill>
                <a:latin typeface="Canva Sans Bold"/>
                <a:ea typeface="Canva Sans Bold"/>
                <a:cs typeface="Canva Sans Bold"/>
                <a:sym typeface="Canva Sans Bold"/>
              </a:rPr>
              <a:t>e</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Ax</a:t>
            </a:r>
            <a:r>
              <a:rPr lang="en-US" b="true" sz="3275">
                <a:solidFill>
                  <a:srgbClr val="BD6A73"/>
                </a:solidFill>
                <a:latin typeface="Canva Sans Bold"/>
                <a:ea typeface="Canva Sans Bold"/>
                <a:cs typeface="Canva Sans Bold"/>
                <a:sym typeface="Canva Sans Bold"/>
              </a:rPr>
              <a:t>i</a:t>
            </a:r>
            <a:r>
              <a:rPr lang="en-US" b="true" sz="3275">
                <a:solidFill>
                  <a:srgbClr val="BD6A73"/>
                </a:solidFill>
                <a:latin typeface="Canva Sans Bold"/>
                <a:ea typeface="Canva Sans Bold"/>
                <a:cs typeface="Canva Sans Bold"/>
                <a:sym typeface="Canva Sans Bold"/>
              </a:rPr>
              <a:t>os</a:t>
            </a:r>
            <a:r>
              <a:rPr lang="en-US" b="true" sz="3275">
                <a:solidFill>
                  <a:srgbClr val="BD6A73"/>
                </a:solidFill>
                <a:latin typeface="Canva Sans Bold"/>
                <a:ea typeface="Canva Sans Bold"/>
                <a:cs typeface="Canva Sans Bold"/>
                <a:sym typeface="Canva Sans Bold"/>
              </a:rPr>
              <a:t> to </a:t>
            </a:r>
            <a:r>
              <a:rPr lang="en-US" b="true" sz="3275">
                <a:solidFill>
                  <a:srgbClr val="BD6A73"/>
                </a:solidFill>
                <a:latin typeface="Canva Sans Bold"/>
                <a:ea typeface="Canva Sans Bold"/>
                <a:cs typeface="Canva Sans Bold"/>
                <a:sym typeface="Canva Sans Bold"/>
              </a:rPr>
              <a:t>p</a:t>
            </a:r>
            <a:r>
              <a:rPr lang="en-US" b="true" sz="3275">
                <a:solidFill>
                  <a:srgbClr val="BD6A73"/>
                </a:solidFill>
                <a:latin typeface="Canva Sans Bold"/>
                <a:ea typeface="Canva Sans Bold"/>
                <a:cs typeface="Canva Sans Bold"/>
                <a:sym typeface="Canva Sans Bold"/>
              </a:rPr>
              <a:t>e</a:t>
            </a:r>
            <a:r>
              <a:rPr lang="en-US" b="true" sz="3275">
                <a:solidFill>
                  <a:srgbClr val="BD6A73"/>
                </a:solidFill>
                <a:latin typeface="Canva Sans Bold"/>
                <a:ea typeface="Canva Sans Bold"/>
                <a:cs typeface="Canva Sans Bold"/>
                <a:sym typeface="Canva Sans Bold"/>
              </a:rPr>
              <a:t>rform</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REST API r</a:t>
            </a:r>
            <a:r>
              <a:rPr lang="en-US" b="true" sz="3275">
                <a:solidFill>
                  <a:srgbClr val="BD6A73"/>
                </a:solidFill>
                <a:latin typeface="Canva Sans Bold"/>
                <a:ea typeface="Canva Sans Bold"/>
                <a:cs typeface="Canva Sans Bold"/>
                <a:sym typeface="Canva Sans Bold"/>
              </a:rPr>
              <a:t>e</a:t>
            </a:r>
            <a:r>
              <a:rPr lang="en-US" b="true" sz="3275">
                <a:solidFill>
                  <a:srgbClr val="BD6A73"/>
                </a:solidFill>
                <a:latin typeface="Canva Sans Bold"/>
                <a:ea typeface="Canva Sans Bold"/>
                <a:cs typeface="Canva Sans Bold"/>
                <a:sym typeface="Canva Sans Bold"/>
              </a:rPr>
              <a:t>ques</a:t>
            </a:r>
            <a:r>
              <a:rPr lang="en-US" b="true" sz="3275">
                <a:solidFill>
                  <a:srgbClr val="BD6A73"/>
                </a:solidFill>
                <a:latin typeface="Canva Sans Bold"/>
                <a:ea typeface="Canva Sans Bold"/>
                <a:cs typeface="Canva Sans Bold"/>
                <a:sym typeface="Canva Sans Bold"/>
              </a:rPr>
              <a:t>t</a:t>
            </a:r>
            <a:r>
              <a:rPr lang="en-US" b="true" sz="3275">
                <a:solidFill>
                  <a:srgbClr val="BD6A73"/>
                </a:solidFill>
                <a:latin typeface="Canva Sans Bold"/>
                <a:ea typeface="Canva Sans Bold"/>
                <a:cs typeface="Canva Sans Bold"/>
                <a:sym typeface="Canva Sans Bold"/>
              </a:rPr>
              <a:t>s, </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pec</a:t>
            </a:r>
            <a:r>
              <a:rPr lang="en-US" b="true" sz="3275">
                <a:solidFill>
                  <a:srgbClr val="BD6A73"/>
                </a:solidFill>
                <a:latin typeface="Canva Sans Bold"/>
                <a:ea typeface="Canva Sans Bold"/>
                <a:cs typeface="Canva Sans Bold"/>
                <a:sym typeface="Canva Sans Bold"/>
              </a:rPr>
              <a:t>i</a:t>
            </a:r>
            <a:r>
              <a:rPr lang="en-US" b="true" sz="3275">
                <a:solidFill>
                  <a:srgbClr val="BD6A73"/>
                </a:solidFill>
                <a:latin typeface="Canva Sans Bold"/>
                <a:ea typeface="Canva Sans Bold"/>
                <a:cs typeface="Canva Sans Bold"/>
                <a:sym typeface="Canva Sans Bold"/>
              </a:rPr>
              <a:t>fically for</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so</a:t>
            </a:r>
            <a:r>
              <a:rPr lang="en-US" b="true" sz="3275">
                <a:solidFill>
                  <a:srgbClr val="BD6A73"/>
                </a:solidFill>
                <a:latin typeface="Canva Sans Bold"/>
                <a:ea typeface="Canva Sans Bold"/>
                <a:cs typeface="Canva Sans Bold"/>
                <a:sym typeface="Canva Sans Bold"/>
              </a:rPr>
              <a:t>n</a:t>
            </a:r>
            <a:r>
              <a:rPr lang="en-US" b="true" sz="3275">
                <a:solidFill>
                  <a:srgbClr val="BD6A73"/>
                </a:solidFill>
                <a:latin typeface="Canva Sans Bold"/>
                <a:ea typeface="Canva Sans Bold"/>
                <a:cs typeface="Canva Sans Bold"/>
                <a:sym typeface="Canva Sans Bold"/>
              </a:rPr>
              <a:t>g da</a:t>
            </a:r>
            <a:r>
              <a:rPr lang="en-US" b="true" sz="3275">
                <a:solidFill>
                  <a:srgbClr val="BD6A73"/>
                </a:solidFill>
                <a:latin typeface="Canva Sans Bold"/>
                <a:ea typeface="Canva Sans Bold"/>
                <a:cs typeface="Canva Sans Bold"/>
                <a:sym typeface="Canva Sans Bold"/>
              </a:rPr>
              <a:t>ta</a:t>
            </a:r>
            <a:r>
              <a:rPr lang="en-US" b="true" sz="3275">
                <a:solidFill>
                  <a:srgbClr val="BD6A73"/>
                </a:solidFill>
                <a:latin typeface="Canva Sans Bold"/>
                <a:ea typeface="Canva Sans Bold"/>
                <a:cs typeface="Canva Sans Bold"/>
                <a:sym typeface="Canva Sans Bold"/>
              </a:rPr>
              <a:t> re</a:t>
            </a:r>
            <a:r>
              <a:rPr lang="en-US" b="true" sz="3275">
                <a:solidFill>
                  <a:srgbClr val="BD6A73"/>
                </a:solidFill>
                <a:latin typeface="Canva Sans Bold"/>
                <a:ea typeface="Canva Sans Bold"/>
                <a:cs typeface="Canva Sans Bold"/>
                <a:sym typeface="Canva Sans Bold"/>
              </a:rPr>
              <a:t>t</a:t>
            </a:r>
            <a:r>
              <a:rPr lang="en-US" b="true" sz="3275">
                <a:solidFill>
                  <a:srgbClr val="BD6A73"/>
                </a:solidFill>
                <a:latin typeface="Canva Sans Bold"/>
                <a:ea typeface="Canva Sans Bold"/>
                <a:cs typeface="Canva Sans Bold"/>
                <a:sym typeface="Canva Sans Bold"/>
              </a:rPr>
              <a:t>r</a:t>
            </a:r>
            <a:r>
              <a:rPr lang="en-US" b="true" sz="3275">
                <a:solidFill>
                  <a:srgbClr val="BD6A73"/>
                </a:solidFill>
                <a:latin typeface="Canva Sans Bold"/>
                <a:ea typeface="Canva Sans Bold"/>
                <a:cs typeface="Canva Sans Bold"/>
                <a:sym typeface="Canva Sans Bold"/>
              </a:rPr>
              <a:t>i</a:t>
            </a:r>
            <a:r>
              <a:rPr lang="en-US" b="true" sz="3275">
                <a:solidFill>
                  <a:srgbClr val="BD6A73"/>
                </a:solidFill>
                <a:latin typeface="Canva Sans Bold"/>
                <a:ea typeface="Canva Sans Bold"/>
                <a:cs typeface="Canva Sans Bold"/>
                <a:sym typeface="Canva Sans Bold"/>
              </a:rPr>
              <a:t>e</a:t>
            </a:r>
            <a:r>
              <a:rPr lang="en-US" b="true" sz="3275">
                <a:solidFill>
                  <a:srgbClr val="BD6A73"/>
                </a:solidFill>
                <a:latin typeface="Canva Sans Bold"/>
                <a:ea typeface="Canva Sans Bold"/>
                <a:cs typeface="Canva Sans Bold"/>
                <a:sym typeface="Canva Sans Bold"/>
              </a:rPr>
              <a:t>v</a:t>
            </a:r>
            <a:r>
              <a:rPr lang="en-US" b="true" sz="3275">
                <a:solidFill>
                  <a:srgbClr val="BD6A73"/>
                </a:solidFill>
                <a:latin typeface="Canva Sans Bold"/>
                <a:ea typeface="Canva Sans Bold"/>
                <a:cs typeface="Canva Sans Bold"/>
                <a:sym typeface="Canva Sans Bold"/>
              </a:rPr>
              <a:t>al</a:t>
            </a:r>
            <a:r>
              <a:rPr lang="en-US" b="true" sz="3275">
                <a:solidFill>
                  <a:srgbClr val="BD6A73"/>
                </a:solidFill>
                <a:latin typeface="Canva Sans Bold"/>
                <a:ea typeface="Canva Sans Bold"/>
                <a:cs typeface="Canva Sans Bold"/>
                <a:sym typeface="Canva Sans Bold"/>
              </a:rPr>
              <a:t>. </a:t>
            </a:r>
          </a:p>
        </p:txBody>
      </p:sp>
      <p:sp>
        <p:nvSpPr>
          <p:cNvPr name="TextBox 79" id="79"/>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FFFFFF"/>
                </a:solidFill>
                <a:latin typeface="Tomorrow"/>
                <a:ea typeface="Tomorrow"/>
                <a:cs typeface="Tomorrow"/>
                <a:sym typeface="Tomorrow"/>
              </a:rPr>
              <a:t>Learn</a:t>
            </a:r>
          </a:p>
        </p:txBody>
      </p:sp>
      <p:sp>
        <p:nvSpPr>
          <p:cNvPr name="TextBox 80" id="80"/>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FFFFFF"/>
                </a:solidFill>
                <a:latin typeface="Tomorrow"/>
                <a:ea typeface="Tomorrow"/>
                <a:cs typeface="Tomorrow"/>
                <a:sym typeface="Tomorrow"/>
              </a:rPr>
              <a:t>Discover</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FFFFFF"/>
                </a:solidFill>
                <a:latin typeface="Fatimi"/>
                <a:ea typeface="Fatimi"/>
                <a:cs typeface="Fatimi"/>
                <a:sym typeface="Fatimi"/>
              </a:rPr>
              <a:t>DEAR  BUP</a:t>
            </a:r>
          </a:p>
        </p:txBody>
      </p:sp>
      <p:sp>
        <p:nvSpPr>
          <p:cNvPr name="TextBox 82" id="82"/>
          <p:cNvSpPr txBox="true"/>
          <p:nvPr/>
        </p:nvSpPr>
        <p:spPr>
          <a:xfrm rot="0">
            <a:off x="2303117" y="797443"/>
            <a:ext cx="5180707" cy="764540"/>
          </a:xfrm>
          <a:prstGeom prst="rect">
            <a:avLst/>
          </a:prstGeom>
        </p:spPr>
        <p:txBody>
          <a:bodyPr anchor="t" rtlCol="false" tIns="0" lIns="0" bIns="0" rIns="0">
            <a:spAutoFit/>
          </a:bodyPr>
          <a:lstStyle/>
          <a:p>
            <a:pPr algn="ctr">
              <a:lnSpc>
                <a:spcPts val="6160"/>
              </a:lnSpc>
            </a:pPr>
            <a:r>
              <a:rPr lang="en-US" sz="4400" b="true">
                <a:solidFill>
                  <a:srgbClr val="BD6A73"/>
                </a:solidFill>
                <a:latin typeface="Tomorrow Bold"/>
                <a:ea typeface="Tomorrow Bold"/>
                <a:cs typeface="Tomorrow Bold"/>
                <a:sym typeface="Tomorrow Bold"/>
              </a:rPr>
              <a:t>Technology Stack</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1B29C"/>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EDE2D8"/>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D6A73">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D6A73">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EDE2D8"/>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D6A73">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EDE2D8"/>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D6A73">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D6A73">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EDE2D8"/>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645" y="8706454"/>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3380876"/>
            <a:ext cx="11934222" cy="4041137"/>
          </a:xfrm>
          <a:prstGeom prst="rect">
            <a:avLst/>
          </a:prstGeom>
        </p:spPr>
        <p:txBody>
          <a:bodyPr anchor="t" rtlCol="false" tIns="0" lIns="0" bIns="0" rIns="0">
            <a:spAutoFit/>
          </a:bodyPr>
          <a:lstStyle/>
          <a:p>
            <a:pPr algn="just">
              <a:lnSpc>
                <a:spcPts val="4585"/>
              </a:lnSpc>
            </a:pPr>
            <a:r>
              <a:rPr lang="en-US" sz="3275" b="true">
                <a:solidFill>
                  <a:srgbClr val="BD6A73"/>
                </a:solidFill>
                <a:latin typeface="Canva Sans Bold"/>
                <a:ea typeface="Canva Sans Bold"/>
                <a:cs typeface="Canva Sans Bold"/>
                <a:sym typeface="Canva Sans Bold"/>
              </a:rPr>
              <a:t>Database &amp; Storag</a:t>
            </a:r>
            <a:r>
              <a:rPr lang="en-US" sz="3275" b="true">
                <a:solidFill>
                  <a:srgbClr val="BD6A73"/>
                </a:solidFill>
                <a:latin typeface="Canva Sans Bold"/>
                <a:ea typeface="Canva Sans Bold"/>
                <a:cs typeface="Canva Sans Bold"/>
                <a:sym typeface="Canva Sans Bold"/>
              </a:rPr>
              <a:t>e</a:t>
            </a:r>
          </a:p>
          <a:p>
            <a:pPr algn="just" marL="707096" indent="-353548" lvl="1">
              <a:lnSpc>
                <a:spcPts val="4585"/>
              </a:lnSpc>
              <a:buFont typeface="Arial"/>
              <a:buChar char="•"/>
            </a:pPr>
            <a:r>
              <a:rPr lang="en-US" b="true" sz="3275">
                <a:solidFill>
                  <a:srgbClr val="565087"/>
                </a:solidFill>
                <a:latin typeface="Canva Sans Bold"/>
                <a:ea typeface="Canva Sans Bold"/>
                <a:cs typeface="Canva Sans Bold"/>
                <a:sym typeface="Canva Sans Bold"/>
              </a:rPr>
              <a:t>Da</a:t>
            </a:r>
            <a:r>
              <a:rPr lang="en-US" b="true" sz="3275">
                <a:solidFill>
                  <a:srgbClr val="565087"/>
                </a:solidFill>
                <a:latin typeface="Canva Sans Bold"/>
                <a:ea typeface="Canva Sans Bold"/>
                <a:cs typeface="Canva Sans Bold"/>
                <a:sym typeface="Canva Sans Bold"/>
              </a:rPr>
              <a:t>tabase Engine: </a:t>
            </a:r>
            <a:r>
              <a:rPr lang="en-US" b="true" sz="3275">
                <a:solidFill>
                  <a:srgbClr val="BD6A73"/>
                </a:solidFill>
                <a:latin typeface="Canva Sans Bold"/>
                <a:ea typeface="Canva Sans Bold"/>
                <a:cs typeface="Canva Sans Bold"/>
                <a:sym typeface="Canva Sans Bold"/>
              </a:rPr>
              <a:t>Utilizes MongoDB Atlas, a</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c</a:t>
            </a:r>
            <a:r>
              <a:rPr lang="en-US" b="true" sz="3275">
                <a:solidFill>
                  <a:srgbClr val="BD6A73"/>
                </a:solidFill>
                <a:latin typeface="Canva Sans Bold"/>
                <a:ea typeface="Canva Sans Bold"/>
                <a:cs typeface="Canva Sans Bold"/>
                <a:sym typeface="Canva Sans Bold"/>
              </a:rPr>
              <a:t>loud-based NoSQL d</a:t>
            </a:r>
            <a:r>
              <a:rPr lang="en-US" b="true" sz="3275">
                <a:solidFill>
                  <a:srgbClr val="BD6A73"/>
                </a:solidFill>
                <a:latin typeface="Canva Sans Bold"/>
                <a:ea typeface="Canva Sans Bold"/>
                <a:cs typeface="Canva Sans Bold"/>
                <a:sym typeface="Canva Sans Bold"/>
              </a:rPr>
              <a:t>ataba</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e, f</a:t>
            </a:r>
            <a:r>
              <a:rPr lang="en-US" b="true" sz="3275">
                <a:solidFill>
                  <a:srgbClr val="BD6A73"/>
                </a:solidFill>
                <a:latin typeface="Canva Sans Bold"/>
                <a:ea typeface="Canva Sans Bold"/>
                <a:cs typeface="Canva Sans Bold"/>
                <a:sym typeface="Canva Sans Bold"/>
              </a:rPr>
              <a:t>or</a:t>
            </a:r>
            <a:r>
              <a:rPr lang="en-US" b="true" sz="3275">
                <a:solidFill>
                  <a:srgbClr val="BD6A73"/>
                </a:solidFill>
                <a:latin typeface="Canva Sans Bold"/>
                <a:ea typeface="Canva Sans Bold"/>
                <a:cs typeface="Canva Sans Bold"/>
                <a:sym typeface="Canva Sans Bold"/>
              </a:rPr>
              <a:t> f</a:t>
            </a:r>
            <a:r>
              <a:rPr lang="en-US" b="true" sz="3275">
                <a:solidFill>
                  <a:srgbClr val="BD6A73"/>
                </a:solidFill>
                <a:latin typeface="Canva Sans Bold"/>
                <a:ea typeface="Canva Sans Bold"/>
                <a:cs typeface="Canva Sans Bold"/>
                <a:sym typeface="Canva Sans Bold"/>
              </a:rPr>
              <a:t>lexible and scal</a:t>
            </a:r>
            <a:r>
              <a:rPr lang="en-US" b="true" sz="3275">
                <a:solidFill>
                  <a:srgbClr val="BD6A73"/>
                </a:solidFill>
                <a:latin typeface="Canva Sans Bold"/>
                <a:ea typeface="Canva Sans Bold"/>
                <a:cs typeface="Canva Sans Bold"/>
                <a:sym typeface="Canva Sans Bold"/>
              </a:rPr>
              <a:t>abl</a:t>
            </a:r>
            <a:r>
              <a:rPr lang="en-US" b="true" sz="3275">
                <a:solidFill>
                  <a:srgbClr val="BD6A73"/>
                </a:solidFill>
                <a:latin typeface="Canva Sans Bold"/>
                <a:ea typeface="Canva Sans Bold"/>
                <a:cs typeface="Canva Sans Bold"/>
                <a:sym typeface="Canva Sans Bold"/>
              </a:rPr>
              <a:t>e dat</a:t>
            </a:r>
            <a:r>
              <a:rPr lang="en-US" b="true" sz="3275">
                <a:solidFill>
                  <a:srgbClr val="BD6A73"/>
                </a:solidFill>
                <a:latin typeface="Canva Sans Bold"/>
                <a:ea typeface="Canva Sans Bold"/>
                <a:cs typeface="Canva Sans Bold"/>
                <a:sym typeface="Canva Sans Bold"/>
              </a:rPr>
              <a:t>a</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torage.</a:t>
            </a:r>
            <a:r>
              <a:rPr lang="en-US" b="true" sz="3275">
                <a:solidFill>
                  <a:srgbClr val="BD6A73"/>
                </a:solidFill>
                <a:latin typeface="Canva Sans Bold"/>
                <a:ea typeface="Canva Sans Bold"/>
                <a:cs typeface="Canva Sans Bold"/>
                <a:sym typeface="Canva Sans Bold"/>
              </a:rPr>
              <a:t> </a:t>
            </a:r>
          </a:p>
          <a:p>
            <a:pPr algn="just" marL="707096" indent="-353548" lvl="1">
              <a:lnSpc>
                <a:spcPts val="4585"/>
              </a:lnSpc>
              <a:buFont typeface="Arial"/>
              <a:buChar char="•"/>
            </a:pPr>
            <a:r>
              <a:rPr lang="en-US" b="true" sz="3275">
                <a:solidFill>
                  <a:srgbClr val="565087"/>
                </a:solidFill>
                <a:latin typeface="Canva Sans Bold"/>
                <a:ea typeface="Canva Sans Bold"/>
                <a:cs typeface="Canva Sans Bold"/>
                <a:sym typeface="Canva Sans Bold"/>
              </a:rPr>
              <a:t>Obj</a:t>
            </a:r>
            <a:r>
              <a:rPr lang="en-US" b="true" sz="3275">
                <a:solidFill>
                  <a:srgbClr val="565087"/>
                </a:solidFill>
                <a:latin typeface="Canva Sans Bold"/>
                <a:ea typeface="Canva Sans Bold"/>
                <a:cs typeface="Canva Sans Bold"/>
                <a:sym typeface="Canva Sans Bold"/>
              </a:rPr>
              <a:t>e</a:t>
            </a:r>
            <a:r>
              <a:rPr lang="en-US" b="true" sz="3275">
                <a:solidFill>
                  <a:srgbClr val="565087"/>
                </a:solidFill>
                <a:latin typeface="Canva Sans Bold"/>
                <a:ea typeface="Canva Sans Bold"/>
                <a:cs typeface="Canva Sans Bold"/>
                <a:sym typeface="Canva Sans Bold"/>
              </a:rPr>
              <a:t>ct Mod</a:t>
            </a:r>
            <a:r>
              <a:rPr lang="en-US" b="true" sz="3275">
                <a:solidFill>
                  <a:srgbClr val="565087"/>
                </a:solidFill>
                <a:latin typeface="Canva Sans Bold"/>
                <a:ea typeface="Canva Sans Bold"/>
                <a:cs typeface="Canva Sans Bold"/>
                <a:sym typeface="Canva Sans Bold"/>
              </a:rPr>
              <a:t>eling:</a:t>
            </a:r>
            <a:r>
              <a:rPr lang="en-US" b="true" sz="3275">
                <a:solidFill>
                  <a:srgbClr val="BD6A73"/>
                </a:solidFill>
                <a:latin typeface="Canva Sans Bold"/>
                <a:ea typeface="Canva Sans Bold"/>
                <a:cs typeface="Canva Sans Bold"/>
                <a:sym typeface="Canva Sans Bold"/>
              </a:rPr>
              <a:t> Empl</a:t>
            </a:r>
            <a:r>
              <a:rPr lang="en-US" b="true" sz="3275">
                <a:solidFill>
                  <a:srgbClr val="BD6A73"/>
                </a:solidFill>
                <a:latin typeface="Canva Sans Bold"/>
                <a:ea typeface="Canva Sans Bold"/>
                <a:cs typeface="Canva Sans Bold"/>
                <a:sym typeface="Canva Sans Bold"/>
              </a:rPr>
              <a:t>oys</a:t>
            </a:r>
            <a:r>
              <a:rPr lang="en-US" b="true" sz="3275">
                <a:solidFill>
                  <a:srgbClr val="BD6A73"/>
                </a:solidFill>
                <a:latin typeface="Canva Sans Bold"/>
                <a:ea typeface="Canva Sans Bold"/>
                <a:cs typeface="Canva Sans Bold"/>
                <a:sym typeface="Canva Sans Bold"/>
              </a:rPr>
              <a:t> Mongoo</a:t>
            </a:r>
            <a:r>
              <a:rPr lang="en-US" b="true" sz="3275">
                <a:solidFill>
                  <a:srgbClr val="BD6A73"/>
                </a:solidFill>
                <a:latin typeface="Canva Sans Bold"/>
                <a:ea typeface="Canva Sans Bold"/>
                <a:cs typeface="Canva Sans Bold"/>
                <a:sym typeface="Canva Sans Bold"/>
              </a:rPr>
              <a:t>se</a:t>
            </a:r>
            <a:r>
              <a:rPr lang="en-US" b="true" sz="3275">
                <a:solidFill>
                  <a:srgbClr val="BD6A73"/>
                </a:solidFill>
                <a:latin typeface="Canva Sans Bold"/>
                <a:ea typeface="Canva Sans Bold"/>
                <a:cs typeface="Canva Sans Bold"/>
                <a:sym typeface="Canva Sans Bold"/>
              </a:rPr>
              <a:t> to h</a:t>
            </a:r>
            <a:r>
              <a:rPr lang="en-US" b="true" sz="3275">
                <a:solidFill>
                  <a:srgbClr val="BD6A73"/>
                </a:solidFill>
                <a:latin typeface="Canva Sans Bold"/>
                <a:ea typeface="Canva Sans Bold"/>
                <a:cs typeface="Canva Sans Bold"/>
                <a:sym typeface="Canva Sans Bold"/>
              </a:rPr>
              <a:t>an</a:t>
            </a:r>
            <a:r>
              <a:rPr lang="en-US" b="true" sz="3275">
                <a:solidFill>
                  <a:srgbClr val="BD6A73"/>
                </a:solidFill>
                <a:latin typeface="Canva Sans Bold"/>
                <a:ea typeface="Canva Sans Bold"/>
                <a:cs typeface="Canva Sans Bold"/>
                <a:sym typeface="Canva Sans Bold"/>
              </a:rPr>
              <a:t>dle dat</a:t>
            </a:r>
            <a:r>
              <a:rPr lang="en-US" b="true" sz="3275">
                <a:solidFill>
                  <a:srgbClr val="BD6A73"/>
                </a:solidFill>
                <a:latin typeface="Canva Sans Bold"/>
                <a:ea typeface="Canva Sans Bold"/>
                <a:cs typeface="Canva Sans Bold"/>
                <a:sym typeface="Canva Sans Bold"/>
              </a:rPr>
              <a:t>abase</a:t>
            </a:r>
            <a:r>
              <a:rPr lang="en-US" b="true" sz="3275">
                <a:solidFill>
                  <a:srgbClr val="BD6A73"/>
                </a:solidFill>
                <a:latin typeface="Canva Sans Bold"/>
                <a:ea typeface="Canva Sans Bold"/>
                <a:cs typeface="Canva Sans Bold"/>
                <a:sym typeface="Canva Sans Bold"/>
              </a:rPr>
              <a:t> logic </a:t>
            </a:r>
            <a:r>
              <a:rPr lang="en-US" b="true" sz="3275">
                <a:solidFill>
                  <a:srgbClr val="BD6A73"/>
                </a:solidFill>
                <a:latin typeface="Canva Sans Bold"/>
                <a:ea typeface="Canva Sans Bold"/>
                <a:cs typeface="Canva Sans Bold"/>
                <a:sym typeface="Canva Sans Bold"/>
              </a:rPr>
              <a:t>and</a:t>
            </a:r>
            <a:r>
              <a:rPr lang="en-US" b="true" sz="3275">
                <a:solidFill>
                  <a:srgbClr val="BD6A73"/>
                </a:solidFill>
                <a:latin typeface="Canva Sans Bold"/>
                <a:ea typeface="Canva Sans Bold"/>
                <a:cs typeface="Canva Sans Bold"/>
                <a:sym typeface="Canva Sans Bold"/>
              </a:rPr>
              <a:t> CR</a:t>
            </a:r>
            <a:r>
              <a:rPr lang="en-US" b="true" sz="3275">
                <a:solidFill>
                  <a:srgbClr val="BD6A73"/>
                </a:solidFill>
                <a:latin typeface="Canva Sans Bold"/>
                <a:ea typeface="Canva Sans Bold"/>
                <a:cs typeface="Canva Sans Bold"/>
                <a:sym typeface="Canva Sans Bold"/>
              </a:rPr>
              <a:t>UD</a:t>
            </a:r>
            <a:r>
              <a:rPr lang="en-US" b="true" sz="3275">
                <a:solidFill>
                  <a:srgbClr val="BD6A73"/>
                </a:solidFill>
                <a:latin typeface="Canva Sans Bold"/>
                <a:ea typeface="Canva Sans Bold"/>
                <a:cs typeface="Canva Sans Bold"/>
                <a:sym typeface="Canva Sans Bold"/>
              </a:rPr>
              <a:t> (C</a:t>
            </a:r>
            <a:r>
              <a:rPr lang="en-US" b="true" sz="3275">
                <a:solidFill>
                  <a:srgbClr val="BD6A73"/>
                </a:solidFill>
                <a:latin typeface="Canva Sans Bold"/>
                <a:ea typeface="Canva Sans Bold"/>
                <a:cs typeface="Canva Sans Bold"/>
                <a:sym typeface="Canva Sans Bold"/>
              </a:rPr>
              <a:t>rea</a:t>
            </a:r>
            <a:r>
              <a:rPr lang="en-US" b="true" sz="3275">
                <a:solidFill>
                  <a:srgbClr val="BD6A73"/>
                </a:solidFill>
                <a:latin typeface="Canva Sans Bold"/>
                <a:ea typeface="Canva Sans Bold"/>
                <a:cs typeface="Canva Sans Bold"/>
                <a:sym typeface="Canva Sans Bold"/>
              </a:rPr>
              <a:t>te</a:t>
            </a:r>
            <a:r>
              <a:rPr lang="en-US" b="true" sz="3275">
                <a:solidFill>
                  <a:srgbClr val="BD6A73"/>
                </a:solidFill>
                <a:latin typeface="Canva Sans Bold"/>
                <a:ea typeface="Canva Sans Bold"/>
                <a:cs typeface="Canva Sans Bold"/>
                <a:sym typeface="Canva Sans Bold"/>
              </a:rPr>
              <a:t>, Read, Upda</a:t>
            </a:r>
            <a:r>
              <a:rPr lang="en-US" b="true" sz="3275">
                <a:solidFill>
                  <a:srgbClr val="BD6A73"/>
                </a:solidFill>
                <a:latin typeface="Canva Sans Bold"/>
                <a:ea typeface="Canva Sans Bold"/>
                <a:cs typeface="Canva Sans Bold"/>
                <a:sym typeface="Canva Sans Bold"/>
              </a:rPr>
              <a:t>te,</a:t>
            </a:r>
            <a:r>
              <a:rPr lang="en-US" b="true" sz="3275">
                <a:solidFill>
                  <a:srgbClr val="BD6A73"/>
                </a:solidFill>
                <a:latin typeface="Canva Sans Bold"/>
                <a:ea typeface="Canva Sans Bold"/>
                <a:cs typeface="Canva Sans Bold"/>
                <a:sym typeface="Canva Sans Bold"/>
              </a:rPr>
              <a:t> Dele</a:t>
            </a:r>
            <a:r>
              <a:rPr lang="en-US" b="true" sz="3275">
                <a:solidFill>
                  <a:srgbClr val="BD6A73"/>
                </a:solidFill>
                <a:latin typeface="Canva Sans Bold"/>
                <a:ea typeface="Canva Sans Bold"/>
                <a:cs typeface="Canva Sans Bold"/>
                <a:sym typeface="Canva Sans Bold"/>
              </a:rPr>
              <a:t>te) op</a:t>
            </a:r>
            <a:r>
              <a:rPr lang="en-US" b="true" sz="3275">
                <a:solidFill>
                  <a:srgbClr val="BD6A73"/>
                </a:solidFill>
                <a:latin typeface="Canva Sans Bold"/>
                <a:ea typeface="Canva Sans Bold"/>
                <a:cs typeface="Canva Sans Bold"/>
                <a:sym typeface="Canva Sans Bold"/>
              </a:rPr>
              <a:t>erations</a:t>
            </a:r>
            <a:r>
              <a:rPr lang="en-US" b="true" sz="3275">
                <a:solidFill>
                  <a:srgbClr val="BD6A73"/>
                </a:solidFill>
                <a:latin typeface="Canva Sans Bold"/>
                <a:ea typeface="Canva Sans Bold"/>
                <a:cs typeface="Canva Sans Bold"/>
                <a:sym typeface="Canva Sans Bold"/>
              </a:rPr>
              <a:t>. </a:t>
            </a:r>
          </a:p>
        </p:txBody>
      </p:sp>
      <p:sp>
        <p:nvSpPr>
          <p:cNvPr name="TextBox 79" id="79"/>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FFFFFF"/>
                </a:solidFill>
                <a:latin typeface="Tomorrow"/>
                <a:ea typeface="Tomorrow"/>
                <a:cs typeface="Tomorrow"/>
                <a:sym typeface="Tomorrow"/>
              </a:rPr>
              <a:t>Learn</a:t>
            </a:r>
          </a:p>
        </p:txBody>
      </p:sp>
      <p:sp>
        <p:nvSpPr>
          <p:cNvPr name="TextBox 80" id="80"/>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FFFFFF"/>
                </a:solidFill>
                <a:latin typeface="Tomorrow"/>
                <a:ea typeface="Tomorrow"/>
                <a:cs typeface="Tomorrow"/>
                <a:sym typeface="Tomorrow"/>
              </a:rPr>
              <a:t>Discover</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FFFFFF"/>
                </a:solidFill>
                <a:latin typeface="Fatimi"/>
                <a:ea typeface="Fatimi"/>
                <a:cs typeface="Fatimi"/>
                <a:sym typeface="Fatimi"/>
              </a:rPr>
              <a:t>DEAR  BUP</a:t>
            </a:r>
          </a:p>
        </p:txBody>
      </p:sp>
      <p:sp>
        <p:nvSpPr>
          <p:cNvPr name="TextBox 82" id="82"/>
          <p:cNvSpPr txBox="true"/>
          <p:nvPr/>
        </p:nvSpPr>
        <p:spPr>
          <a:xfrm rot="0">
            <a:off x="2303117" y="797443"/>
            <a:ext cx="5180707" cy="764540"/>
          </a:xfrm>
          <a:prstGeom prst="rect">
            <a:avLst/>
          </a:prstGeom>
        </p:spPr>
        <p:txBody>
          <a:bodyPr anchor="t" rtlCol="false" tIns="0" lIns="0" bIns="0" rIns="0">
            <a:spAutoFit/>
          </a:bodyPr>
          <a:lstStyle/>
          <a:p>
            <a:pPr algn="ctr">
              <a:lnSpc>
                <a:spcPts val="6160"/>
              </a:lnSpc>
            </a:pPr>
            <a:r>
              <a:rPr lang="en-US" sz="4400" b="true">
                <a:solidFill>
                  <a:srgbClr val="BD6A73"/>
                </a:solidFill>
                <a:latin typeface="Tomorrow Bold"/>
                <a:ea typeface="Tomorrow Bold"/>
                <a:cs typeface="Tomorrow Bold"/>
                <a:sym typeface="Tomorrow Bold"/>
              </a:rPr>
              <a:t>Technology Stack</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1B29C"/>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EDE2D8"/>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D6A73">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D6A73">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EDE2D8"/>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D6A73">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EDE2D8"/>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D6A73">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D6A73">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EDE2D8"/>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1B29C"/>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645" y="8706454"/>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A848C"/>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3380876"/>
            <a:ext cx="11934222" cy="1717037"/>
          </a:xfrm>
          <a:prstGeom prst="rect">
            <a:avLst/>
          </a:prstGeom>
        </p:spPr>
        <p:txBody>
          <a:bodyPr anchor="t" rtlCol="false" tIns="0" lIns="0" bIns="0" rIns="0">
            <a:spAutoFit/>
          </a:bodyPr>
          <a:lstStyle/>
          <a:p>
            <a:pPr algn="just">
              <a:lnSpc>
                <a:spcPts val="4585"/>
              </a:lnSpc>
            </a:pPr>
            <a:r>
              <a:rPr lang="en-US" sz="3275" b="true">
                <a:solidFill>
                  <a:srgbClr val="BD6A73"/>
                </a:solidFill>
                <a:latin typeface="Canva Sans Bold"/>
                <a:ea typeface="Canva Sans Bold"/>
                <a:cs typeface="Canva Sans Bold"/>
                <a:sym typeface="Canva Sans Bold"/>
              </a:rPr>
              <a:t>Extern</a:t>
            </a:r>
            <a:r>
              <a:rPr lang="en-US" sz="3275" b="true">
                <a:solidFill>
                  <a:srgbClr val="BD6A73"/>
                </a:solidFill>
                <a:latin typeface="Canva Sans Bold"/>
                <a:ea typeface="Canva Sans Bold"/>
                <a:cs typeface="Canva Sans Bold"/>
                <a:sym typeface="Canva Sans Bold"/>
              </a:rPr>
              <a:t>al Integra</a:t>
            </a:r>
            <a:r>
              <a:rPr lang="en-US" b="true" sz="3275">
                <a:solidFill>
                  <a:srgbClr val="BD6A73"/>
                </a:solidFill>
                <a:latin typeface="Canva Sans Bold"/>
                <a:ea typeface="Canva Sans Bold"/>
                <a:cs typeface="Canva Sans Bold"/>
                <a:sym typeface="Canva Sans Bold"/>
              </a:rPr>
              <a:t>tions</a:t>
            </a:r>
          </a:p>
          <a:p>
            <a:pPr algn="just" marL="707096" indent="-353548" lvl="1">
              <a:lnSpc>
                <a:spcPts val="4585"/>
              </a:lnSpc>
              <a:buFont typeface="Arial"/>
              <a:buChar char="•"/>
            </a:pPr>
            <a:r>
              <a:rPr lang="en-US" b="true" sz="3275">
                <a:solidFill>
                  <a:srgbClr val="00BF63"/>
                </a:solidFill>
                <a:latin typeface="Canva Sans Bold"/>
                <a:ea typeface="Canva Sans Bold"/>
                <a:cs typeface="Canva Sans Bold"/>
                <a:sym typeface="Canva Sans Bold"/>
              </a:rPr>
              <a:t>Spotify API:</a:t>
            </a:r>
            <a:r>
              <a:rPr lang="en-US" b="true" sz="3275">
                <a:solidFill>
                  <a:srgbClr val="BD6A73"/>
                </a:solidFill>
                <a:latin typeface="Canva Sans Bold"/>
                <a:ea typeface="Canva Sans Bold"/>
                <a:cs typeface="Canva Sans Bold"/>
                <a:sym typeface="Canva Sans Bold"/>
              </a:rPr>
              <a:t> Integr</a:t>
            </a:r>
            <a:r>
              <a:rPr lang="en-US" b="true" sz="3275">
                <a:solidFill>
                  <a:srgbClr val="BD6A73"/>
                </a:solidFill>
                <a:latin typeface="Canva Sans Bold"/>
                <a:ea typeface="Canva Sans Bold"/>
                <a:cs typeface="Canva Sans Bold"/>
                <a:sym typeface="Canva Sans Bold"/>
              </a:rPr>
              <a:t>at</a:t>
            </a:r>
            <a:r>
              <a:rPr lang="en-US" b="true" sz="3275">
                <a:solidFill>
                  <a:srgbClr val="BD6A73"/>
                </a:solidFill>
                <a:latin typeface="Canva Sans Bold"/>
                <a:ea typeface="Canva Sans Bold"/>
                <a:cs typeface="Canva Sans Bold"/>
                <a:sym typeface="Canva Sans Bold"/>
              </a:rPr>
              <a:t>ed int</a:t>
            </a:r>
            <a:r>
              <a:rPr lang="en-US" b="true" sz="3275">
                <a:solidFill>
                  <a:srgbClr val="BD6A73"/>
                </a:solidFill>
                <a:latin typeface="Canva Sans Bold"/>
                <a:ea typeface="Canva Sans Bold"/>
                <a:cs typeface="Canva Sans Bold"/>
                <a:sym typeface="Canva Sans Bold"/>
              </a:rPr>
              <a:t>o</a:t>
            </a:r>
            <a:r>
              <a:rPr lang="en-US" b="true" sz="3275">
                <a:solidFill>
                  <a:srgbClr val="BD6A73"/>
                </a:solidFill>
                <a:latin typeface="Canva Sans Bold"/>
                <a:ea typeface="Canva Sans Bold"/>
                <a:cs typeface="Canva Sans Bold"/>
                <a:sym typeface="Canva Sans Bold"/>
              </a:rPr>
              <a:t> th</a:t>
            </a:r>
            <a:r>
              <a:rPr lang="en-US" b="true" sz="3275">
                <a:solidFill>
                  <a:srgbClr val="BD6A73"/>
                </a:solidFill>
                <a:latin typeface="Canva Sans Bold"/>
                <a:ea typeface="Canva Sans Bold"/>
                <a:cs typeface="Canva Sans Bold"/>
                <a:sym typeface="Canva Sans Bold"/>
              </a:rPr>
              <a:t>e sy</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tem</a:t>
            </a:r>
            <a:r>
              <a:rPr lang="en-US" b="true" sz="3275">
                <a:solidFill>
                  <a:srgbClr val="BD6A73"/>
                </a:solidFill>
                <a:latin typeface="Canva Sans Bold"/>
                <a:ea typeface="Canva Sans Bold"/>
                <a:cs typeface="Canva Sans Bold"/>
                <a:sym typeface="Canva Sans Bold"/>
              </a:rPr>
              <a:t> </a:t>
            </a:r>
            <a:r>
              <a:rPr lang="en-US" b="true" sz="3275">
                <a:solidFill>
                  <a:srgbClr val="BD6A73"/>
                </a:solidFill>
                <a:latin typeface="Canva Sans Bold"/>
                <a:ea typeface="Canva Sans Bold"/>
                <a:cs typeface="Canva Sans Bold"/>
                <a:sym typeface="Canva Sans Bold"/>
              </a:rPr>
              <a:t>to</a:t>
            </a:r>
            <a:r>
              <a:rPr lang="en-US" b="true" sz="3275">
                <a:solidFill>
                  <a:srgbClr val="BD6A73"/>
                </a:solidFill>
                <a:latin typeface="Canva Sans Bold"/>
                <a:ea typeface="Canva Sans Bold"/>
                <a:cs typeface="Canva Sans Bold"/>
                <a:sym typeface="Canva Sans Bold"/>
              </a:rPr>
              <a:t> all</a:t>
            </a:r>
            <a:r>
              <a:rPr lang="en-US" b="true" sz="3275">
                <a:solidFill>
                  <a:srgbClr val="BD6A73"/>
                </a:solidFill>
                <a:latin typeface="Canva Sans Bold"/>
                <a:ea typeface="Canva Sans Bold"/>
                <a:cs typeface="Canva Sans Bold"/>
                <a:sym typeface="Canva Sans Bold"/>
              </a:rPr>
              <a:t>ow</a:t>
            </a:r>
            <a:r>
              <a:rPr lang="en-US" b="true" sz="3275">
                <a:solidFill>
                  <a:srgbClr val="BD6A73"/>
                </a:solidFill>
                <a:latin typeface="Canva Sans Bold"/>
                <a:ea typeface="Canva Sans Bold"/>
                <a:cs typeface="Canva Sans Bold"/>
                <a:sym typeface="Canva Sans Bold"/>
              </a:rPr>
              <a:t> u</a:t>
            </a:r>
            <a:r>
              <a:rPr lang="en-US" b="true" sz="3275">
                <a:solidFill>
                  <a:srgbClr val="BD6A73"/>
                </a:solidFill>
                <a:latin typeface="Canva Sans Bold"/>
                <a:ea typeface="Canva Sans Bold"/>
                <a:cs typeface="Canva Sans Bold"/>
                <a:sym typeface="Canva Sans Bold"/>
              </a:rPr>
              <a:t>sers</a:t>
            </a:r>
            <a:r>
              <a:rPr lang="en-US" b="true" sz="3275">
                <a:solidFill>
                  <a:srgbClr val="BD6A73"/>
                </a:solidFill>
                <a:latin typeface="Canva Sans Bold"/>
                <a:ea typeface="Canva Sans Bold"/>
                <a:cs typeface="Canva Sans Bold"/>
                <a:sym typeface="Canva Sans Bold"/>
              </a:rPr>
              <a:t> to </a:t>
            </a:r>
            <a:r>
              <a:rPr lang="en-US" b="true" sz="3275">
                <a:solidFill>
                  <a:srgbClr val="BD6A73"/>
                </a:solidFill>
                <a:latin typeface="Canva Sans Bold"/>
                <a:ea typeface="Canva Sans Bold"/>
                <a:cs typeface="Canva Sans Bold"/>
                <a:sym typeface="Canva Sans Bold"/>
              </a:rPr>
              <a:t>a</a:t>
            </a:r>
            <a:r>
              <a:rPr lang="en-US" b="true" sz="3275">
                <a:solidFill>
                  <a:srgbClr val="BD6A73"/>
                </a:solidFill>
                <a:latin typeface="Canva Sans Bold"/>
                <a:ea typeface="Canva Sans Bold"/>
                <a:cs typeface="Canva Sans Bold"/>
                <a:sym typeface="Canva Sans Bold"/>
              </a:rPr>
              <a:t>dd mu</a:t>
            </a:r>
            <a:r>
              <a:rPr lang="en-US" b="true" sz="3275">
                <a:solidFill>
                  <a:srgbClr val="BD6A73"/>
                </a:solidFill>
                <a:latin typeface="Canva Sans Bold"/>
                <a:ea typeface="Canva Sans Bold"/>
                <a:cs typeface="Canva Sans Bold"/>
                <a:sym typeface="Canva Sans Bold"/>
              </a:rPr>
              <a:t>s</a:t>
            </a:r>
            <a:r>
              <a:rPr lang="en-US" b="true" sz="3275">
                <a:solidFill>
                  <a:srgbClr val="BD6A73"/>
                </a:solidFill>
                <a:latin typeface="Canva Sans Bold"/>
                <a:ea typeface="Canva Sans Bold"/>
                <a:cs typeface="Canva Sans Bold"/>
                <a:sym typeface="Canva Sans Bold"/>
              </a:rPr>
              <a:t>ic met</a:t>
            </a:r>
            <a:r>
              <a:rPr lang="en-US" b="true" sz="3275">
                <a:solidFill>
                  <a:srgbClr val="BD6A73"/>
                </a:solidFill>
                <a:latin typeface="Canva Sans Bold"/>
                <a:ea typeface="Canva Sans Bold"/>
                <a:cs typeface="Canva Sans Bold"/>
                <a:sym typeface="Canva Sans Bold"/>
              </a:rPr>
              <a:t>adata</a:t>
            </a:r>
            <a:r>
              <a:rPr lang="en-US" b="true" sz="3275">
                <a:solidFill>
                  <a:srgbClr val="BD6A73"/>
                </a:solidFill>
                <a:latin typeface="Canva Sans Bold"/>
                <a:ea typeface="Canva Sans Bold"/>
                <a:cs typeface="Canva Sans Bold"/>
                <a:sym typeface="Canva Sans Bold"/>
              </a:rPr>
              <a:t> to their</a:t>
            </a:r>
            <a:r>
              <a:rPr lang="en-US" b="true" sz="3275">
                <a:solidFill>
                  <a:srgbClr val="BD6A73"/>
                </a:solidFill>
                <a:latin typeface="Canva Sans Bold"/>
                <a:ea typeface="Canva Sans Bold"/>
                <a:cs typeface="Canva Sans Bold"/>
                <a:sym typeface="Canva Sans Bold"/>
              </a:rPr>
              <a:t> digital le</a:t>
            </a:r>
            <a:r>
              <a:rPr lang="en-US" b="true" sz="3275">
                <a:solidFill>
                  <a:srgbClr val="BD6A73"/>
                </a:solidFill>
                <a:latin typeface="Canva Sans Bold"/>
                <a:ea typeface="Canva Sans Bold"/>
                <a:cs typeface="Canva Sans Bold"/>
                <a:sym typeface="Canva Sans Bold"/>
              </a:rPr>
              <a:t>tt</a:t>
            </a:r>
            <a:r>
              <a:rPr lang="en-US" b="true" sz="3275">
                <a:solidFill>
                  <a:srgbClr val="BD6A73"/>
                </a:solidFill>
                <a:latin typeface="Canva Sans Bold"/>
                <a:ea typeface="Canva Sans Bold"/>
                <a:cs typeface="Canva Sans Bold"/>
                <a:sym typeface="Canva Sans Bold"/>
              </a:rPr>
              <a:t>ers</a:t>
            </a:r>
          </a:p>
        </p:txBody>
      </p:sp>
      <p:sp>
        <p:nvSpPr>
          <p:cNvPr name="TextBox 79" id="79"/>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FFFFFF"/>
                </a:solidFill>
                <a:latin typeface="Tomorrow"/>
                <a:ea typeface="Tomorrow"/>
                <a:cs typeface="Tomorrow"/>
                <a:sym typeface="Tomorrow"/>
              </a:rPr>
              <a:t>Learn</a:t>
            </a:r>
          </a:p>
        </p:txBody>
      </p:sp>
      <p:sp>
        <p:nvSpPr>
          <p:cNvPr name="TextBox 80" id="80"/>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FFFFFF"/>
                </a:solidFill>
                <a:latin typeface="Tomorrow"/>
                <a:ea typeface="Tomorrow"/>
                <a:cs typeface="Tomorrow"/>
                <a:sym typeface="Tomorrow"/>
              </a:rPr>
              <a:t>Discover</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FFFFFF"/>
                </a:solidFill>
                <a:latin typeface="Fatimi"/>
                <a:ea typeface="Fatimi"/>
                <a:cs typeface="Fatimi"/>
                <a:sym typeface="Fatimi"/>
              </a:rPr>
              <a:t>DEAR  BUP</a:t>
            </a:r>
          </a:p>
        </p:txBody>
      </p:sp>
      <p:sp>
        <p:nvSpPr>
          <p:cNvPr name="TextBox 82" id="82"/>
          <p:cNvSpPr txBox="true"/>
          <p:nvPr/>
        </p:nvSpPr>
        <p:spPr>
          <a:xfrm rot="0">
            <a:off x="2303117" y="797443"/>
            <a:ext cx="5180707" cy="764540"/>
          </a:xfrm>
          <a:prstGeom prst="rect">
            <a:avLst/>
          </a:prstGeom>
        </p:spPr>
        <p:txBody>
          <a:bodyPr anchor="t" rtlCol="false" tIns="0" lIns="0" bIns="0" rIns="0">
            <a:spAutoFit/>
          </a:bodyPr>
          <a:lstStyle/>
          <a:p>
            <a:pPr algn="ctr">
              <a:lnSpc>
                <a:spcPts val="6160"/>
              </a:lnSpc>
            </a:pPr>
            <a:r>
              <a:rPr lang="en-US" sz="4400" b="true">
                <a:solidFill>
                  <a:srgbClr val="BD6A73"/>
                </a:solidFill>
                <a:latin typeface="Tomorrow Bold"/>
                <a:ea typeface="Tomorrow Bold"/>
                <a:cs typeface="Tomorrow Bold"/>
                <a:sym typeface="Tomorrow Bold"/>
              </a:rPr>
              <a:t>Technology Stack</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5E7E1"/>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DC9390">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DC9390">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5E7E1"/>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DC9390">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5E7E1"/>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DC9390">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DC9390">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5E7E1"/>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195"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2381621" y="3490165"/>
            <a:ext cx="11855717" cy="4248621"/>
          </a:xfrm>
          <a:prstGeom prst="rect">
            <a:avLst/>
          </a:prstGeom>
        </p:spPr>
        <p:txBody>
          <a:bodyPr anchor="t" rtlCol="false" tIns="0" lIns="0" bIns="0" rIns="0">
            <a:spAutoFit/>
          </a:bodyPr>
          <a:lstStyle/>
          <a:p>
            <a:pPr algn="just" marL="1048506" indent="-524253" lvl="1">
              <a:lnSpc>
                <a:spcPts val="6799"/>
              </a:lnSpc>
              <a:buFont typeface="Arial"/>
              <a:buChar char="•"/>
            </a:pPr>
            <a:r>
              <a:rPr lang="en-US" b="true" sz="4856">
                <a:solidFill>
                  <a:srgbClr val="000000"/>
                </a:solidFill>
                <a:latin typeface="Canva Sans Bold"/>
                <a:ea typeface="Canva Sans Bold"/>
                <a:cs typeface="Canva Sans Bold"/>
                <a:sym typeface="Canva Sans Bold"/>
              </a:rPr>
              <a:t>CREATIVE EXPRESSION.</a:t>
            </a:r>
            <a:r>
              <a:rPr lang="en-US" b="true" sz="4856">
                <a:solidFill>
                  <a:srgbClr val="DC9390"/>
                </a:solidFill>
                <a:latin typeface="Canva Sans Bold"/>
                <a:ea typeface="Canva Sans Bold"/>
                <a:cs typeface="Canva Sans Bold"/>
                <a:sym typeface="Canva Sans Bold"/>
              </a:rPr>
              <a:t>Allows students to share thoughts or confessions which can be customized with specific songs to integrate an emotional depth.</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2" id="82"/>
          <p:cNvSpPr txBox="true"/>
          <p:nvPr/>
        </p:nvSpPr>
        <p:spPr>
          <a:xfrm rot="0">
            <a:off x="2894872" y="739827"/>
            <a:ext cx="4537038" cy="874142"/>
          </a:xfrm>
          <a:prstGeom prst="rect">
            <a:avLst/>
          </a:prstGeom>
        </p:spPr>
        <p:txBody>
          <a:bodyPr anchor="t" rtlCol="false" tIns="0" lIns="0" bIns="0" rIns="0">
            <a:spAutoFit/>
          </a:bodyPr>
          <a:lstStyle/>
          <a:p>
            <a:pPr algn="ctr">
              <a:lnSpc>
                <a:spcPts val="7193"/>
              </a:lnSpc>
            </a:pPr>
            <a:r>
              <a:rPr lang="en-US" b="true" sz="5138">
                <a:solidFill>
                  <a:srgbClr val="DC9390"/>
                </a:solidFill>
                <a:latin typeface="Tomorrow Bold"/>
                <a:ea typeface="Tomorrow Bold"/>
                <a:cs typeface="Tomorrow Bold"/>
                <a:sym typeface="Tomorrow Bold"/>
              </a:rPr>
              <a:t> Key Features</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5E7E1"/>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DC9390">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DC9390">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5E7E1"/>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DC9390">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5E7E1"/>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DC9390">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DC9390">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5E7E1"/>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195"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2381621" y="3537790"/>
            <a:ext cx="12350144" cy="3541230"/>
          </a:xfrm>
          <a:prstGeom prst="rect">
            <a:avLst/>
          </a:prstGeom>
        </p:spPr>
        <p:txBody>
          <a:bodyPr anchor="t" rtlCol="false" tIns="0" lIns="0" bIns="0" rIns="0">
            <a:spAutoFit/>
          </a:bodyPr>
          <a:lstStyle/>
          <a:p>
            <a:pPr algn="just">
              <a:lnSpc>
                <a:spcPts val="3439"/>
              </a:lnSpc>
            </a:pPr>
          </a:p>
          <a:p>
            <a:pPr algn="just" marL="962149" indent="-481074" lvl="1">
              <a:lnSpc>
                <a:spcPts val="6239"/>
              </a:lnSpc>
              <a:buFont typeface="Arial"/>
              <a:buChar char="•"/>
            </a:pPr>
            <a:r>
              <a:rPr lang="en-US" b="true" sz="4456">
                <a:solidFill>
                  <a:srgbClr val="000000"/>
                </a:solidFill>
                <a:latin typeface="Canva Sans Bold"/>
                <a:ea typeface="Canva Sans Bold"/>
                <a:cs typeface="Canva Sans Bold"/>
                <a:sym typeface="Canva Sans Bold"/>
              </a:rPr>
              <a:t>CBO MANAGEMENT. </a:t>
            </a:r>
            <a:r>
              <a:rPr lang="en-US" b="true" sz="4456">
                <a:solidFill>
                  <a:srgbClr val="DC9390"/>
                </a:solidFill>
                <a:latin typeface="Canva Sans Bold"/>
                <a:ea typeface="Canva Sans Bold"/>
                <a:cs typeface="Canva Sans Bold"/>
                <a:sym typeface="Canva Sans Bold"/>
              </a:rPr>
              <a:t>A dedicated portal provides a directory of all accredited campus organizations, where each group can manage profile and post updates.</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2" id="82"/>
          <p:cNvSpPr txBox="true"/>
          <p:nvPr/>
        </p:nvSpPr>
        <p:spPr>
          <a:xfrm rot="0">
            <a:off x="2894872" y="739827"/>
            <a:ext cx="4537038" cy="874142"/>
          </a:xfrm>
          <a:prstGeom prst="rect">
            <a:avLst/>
          </a:prstGeom>
        </p:spPr>
        <p:txBody>
          <a:bodyPr anchor="t" rtlCol="false" tIns="0" lIns="0" bIns="0" rIns="0">
            <a:spAutoFit/>
          </a:bodyPr>
          <a:lstStyle/>
          <a:p>
            <a:pPr algn="ctr">
              <a:lnSpc>
                <a:spcPts val="7193"/>
              </a:lnSpc>
            </a:pPr>
            <a:r>
              <a:rPr lang="en-US" b="true" sz="5138">
                <a:solidFill>
                  <a:srgbClr val="DC9390"/>
                </a:solidFill>
                <a:latin typeface="Tomorrow Bold"/>
                <a:ea typeface="Tomorrow Bold"/>
                <a:cs typeface="Tomorrow Bold"/>
                <a:sym typeface="Tomorrow Bold"/>
              </a:rPr>
              <a:t> Key Features</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slow">
    <p:fade/>
  </p:transition>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5E7E1"/>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DC9390">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DC9390">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5E7E1"/>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DC9390">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5E7E1"/>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DC9390">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DC9390">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5E7E1"/>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195"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2381621" y="3499690"/>
            <a:ext cx="12350144" cy="4445471"/>
          </a:xfrm>
          <a:prstGeom prst="rect">
            <a:avLst/>
          </a:prstGeom>
        </p:spPr>
        <p:txBody>
          <a:bodyPr anchor="t" rtlCol="false" tIns="0" lIns="0" bIns="0" rIns="0">
            <a:spAutoFit/>
          </a:bodyPr>
          <a:lstStyle/>
          <a:p>
            <a:pPr algn="just">
              <a:lnSpc>
                <a:spcPts val="5679"/>
              </a:lnSpc>
            </a:pPr>
          </a:p>
          <a:p>
            <a:pPr algn="just" marL="875791" indent="-437895" lvl="1">
              <a:lnSpc>
                <a:spcPts val="5679"/>
              </a:lnSpc>
              <a:buFont typeface="Arial"/>
              <a:buChar char="•"/>
            </a:pPr>
            <a:r>
              <a:rPr lang="en-US" b="true" sz="4056">
                <a:solidFill>
                  <a:srgbClr val="000000"/>
                </a:solidFill>
                <a:latin typeface="Canva Sans Bold"/>
                <a:ea typeface="Canva Sans Bold"/>
                <a:cs typeface="Canva Sans Bold"/>
                <a:sym typeface="Canva Sans Bold"/>
              </a:rPr>
              <a:t>CENTRALIZED CAMPUS UPDATES</a:t>
            </a:r>
            <a:r>
              <a:rPr lang="en-US" b="true" sz="4056">
                <a:solidFill>
                  <a:srgbClr val="DC9390"/>
                </a:solidFill>
                <a:latin typeface="Canva Sans Bold"/>
                <a:ea typeface="Canva Sans Bold"/>
                <a:cs typeface="Canva Sans Bold"/>
                <a:sym typeface="Canva Sans Bold"/>
              </a:rPr>
              <a:t>.F</a:t>
            </a:r>
            <a:r>
              <a:rPr lang="en-US" b="true" sz="4056">
                <a:solidFill>
                  <a:srgbClr val="DC9390"/>
                </a:solidFill>
                <a:latin typeface="Canva Sans Bold"/>
                <a:ea typeface="Canva Sans Bold"/>
                <a:cs typeface="Canva Sans Bold"/>
                <a:sym typeface="Canva Sans Bold"/>
              </a:rPr>
              <a:t>e</a:t>
            </a:r>
            <a:r>
              <a:rPr lang="en-US" b="true" sz="4056">
                <a:solidFill>
                  <a:srgbClr val="DC9390"/>
                </a:solidFill>
                <a:latin typeface="Canva Sans Bold"/>
                <a:ea typeface="Canva Sans Bold"/>
                <a:cs typeface="Canva Sans Bold"/>
                <a:sym typeface="Canva Sans Bold"/>
              </a:rPr>
              <a:t>atures an activity tracker </a:t>
            </a:r>
            <a:r>
              <a:rPr lang="en-US" b="true" sz="4056">
                <a:solidFill>
                  <a:srgbClr val="DC9390"/>
                </a:solidFill>
                <a:latin typeface="Canva Sans Bold"/>
                <a:ea typeface="Canva Sans Bold"/>
                <a:cs typeface="Canva Sans Bold"/>
                <a:sym typeface="Canva Sans Bold"/>
              </a:rPr>
              <a:t>for</a:t>
            </a:r>
            <a:r>
              <a:rPr lang="en-US" b="true" sz="4056">
                <a:solidFill>
                  <a:srgbClr val="DC9390"/>
                </a:solidFill>
                <a:latin typeface="Canva Sans Bold"/>
                <a:ea typeface="Canva Sans Bold"/>
                <a:cs typeface="Canva Sans Bold"/>
                <a:sym typeface="Canva Sans Bold"/>
              </a:rPr>
              <a:t> chronological </a:t>
            </a:r>
            <a:r>
              <a:rPr lang="en-US" b="true" sz="4056">
                <a:solidFill>
                  <a:srgbClr val="DC9390"/>
                </a:solidFill>
                <a:latin typeface="Canva Sans Bold"/>
                <a:ea typeface="Canva Sans Bold"/>
                <a:cs typeface="Canva Sans Bold"/>
                <a:sym typeface="Canva Sans Bold"/>
              </a:rPr>
              <a:t>e</a:t>
            </a:r>
            <a:r>
              <a:rPr lang="en-US" b="true" sz="4056">
                <a:solidFill>
                  <a:srgbClr val="DC9390"/>
                </a:solidFill>
                <a:latin typeface="Canva Sans Bold"/>
                <a:ea typeface="Canva Sans Bold"/>
                <a:cs typeface="Canva Sans Bold"/>
                <a:sym typeface="Canva Sans Bold"/>
              </a:rPr>
              <a:t>vent</a:t>
            </a:r>
            <a:r>
              <a:rPr lang="en-US" b="true" sz="4056">
                <a:solidFill>
                  <a:srgbClr val="DC9390"/>
                </a:solidFill>
                <a:latin typeface="Canva Sans Bold"/>
                <a:ea typeface="Canva Sans Bold"/>
                <a:cs typeface="Canva Sans Bold"/>
                <a:sym typeface="Canva Sans Bold"/>
              </a:rPr>
              <a:t> </a:t>
            </a:r>
            <a:r>
              <a:rPr lang="en-US" b="true" sz="4056">
                <a:solidFill>
                  <a:srgbClr val="DC9390"/>
                </a:solidFill>
                <a:latin typeface="Canva Sans Bold"/>
                <a:ea typeface="Canva Sans Bold"/>
                <a:cs typeface="Canva Sans Bold"/>
                <a:sym typeface="Canva Sans Bold"/>
              </a:rPr>
              <a:t>li</a:t>
            </a:r>
            <a:r>
              <a:rPr lang="en-US" b="true" sz="4056">
                <a:solidFill>
                  <a:srgbClr val="DC9390"/>
                </a:solidFill>
                <a:latin typeface="Canva Sans Bold"/>
                <a:ea typeface="Canva Sans Bold"/>
                <a:cs typeface="Canva Sans Bold"/>
                <a:sym typeface="Canva Sans Bold"/>
              </a:rPr>
              <a:t>sts a</a:t>
            </a:r>
            <a:r>
              <a:rPr lang="en-US" b="true" sz="4056">
                <a:solidFill>
                  <a:srgbClr val="DC9390"/>
                </a:solidFill>
                <a:latin typeface="Canva Sans Bold"/>
                <a:ea typeface="Canva Sans Bold"/>
                <a:cs typeface="Canva Sans Bold"/>
                <a:sym typeface="Canva Sans Bold"/>
              </a:rPr>
              <a:t>nd a cam</a:t>
            </a:r>
            <a:r>
              <a:rPr lang="en-US" b="true" sz="4056">
                <a:solidFill>
                  <a:srgbClr val="DC9390"/>
                </a:solidFill>
                <a:latin typeface="Canva Sans Bold"/>
                <a:ea typeface="Canva Sans Bold"/>
                <a:cs typeface="Canva Sans Bold"/>
                <a:sym typeface="Canva Sans Bold"/>
              </a:rPr>
              <a:t>p</a:t>
            </a:r>
            <a:r>
              <a:rPr lang="en-US" b="true" sz="4056">
                <a:solidFill>
                  <a:srgbClr val="DC9390"/>
                </a:solidFill>
                <a:latin typeface="Canva Sans Bold"/>
                <a:ea typeface="Canva Sans Bold"/>
                <a:cs typeface="Canva Sans Bold"/>
                <a:sym typeface="Canva Sans Bold"/>
              </a:rPr>
              <a:t>us news f</a:t>
            </a:r>
            <a:r>
              <a:rPr lang="en-US" b="true" sz="4056">
                <a:solidFill>
                  <a:srgbClr val="DC9390"/>
                </a:solidFill>
                <a:latin typeface="Canva Sans Bold"/>
                <a:ea typeface="Canva Sans Bold"/>
                <a:cs typeface="Canva Sans Bold"/>
                <a:sym typeface="Canva Sans Bold"/>
              </a:rPr>
              <a:t>e</a:t>
            </a:r>
            <a:r>
              <a:rPr lang="en-US" b="true" sz="4056">
                <a:solidFill>
                  <a:srgbClr val="DC9390"/>
                </a:solidFill>
                <a:latin typeface="Canva Sans Bold"/>
                <a:ea typeface="Canva Sans Bold"/>
                <a:cs typeface="Canva Sans Bold"/>
                <a:sym typeface="Canva Sans Bold"/>
              </a:rPr>
              <a:t>ed fo</a:t>
            </a:r>
            <a:r>
              <a:rPr lang="en-US" b="true" sz="4056">
                <a:solidFill>
                  <a:srgbClr val="DC9390"/>
                </a:solidFill>
                <a:latin typeface="Canva Sans Bold"/>
                <a:ea typeface="Canva Sans Bold"/>
                <a:cs typeface="Canva Sans Bold"/>
                <a:sym typeface="Canva Sans Bold"/>
              </a:rPr>
              <a:t>r</a:t>
            </a:r>
            <a:r>
              <a:rPr lang="en-US" b="true" sz="4056">
                <a:solidFill>
                  <a:srgbClr val="DC9390"/>
                </a:solidFill>
                <a:latin typeface="Canva Sans Bold"/>
                <a:ea typeface="Canva Sans Bold"/>
                <a:cs typeface="Canva Sans Bold"/>
                <a:sym typeface="Canva Sans Bold"/>
              </a:rPr>
              <a:t> real time community engagement.</a:t>
            </a:r>
          </a:p>
          <a:p>
            <a:pPr algn="just">
              <a:lnSpc>
                <a:spcPts val="7219"/>
              </a:lnSpc>
            </a:pP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2" id="82"/>
          <p:cNvSpPr txBox="true"/>
          <p:nvPr/>
        </p:nvSpPr>
        <p:spPr>
          <a:xfrm rot="0">
            <a:off x="2894872" y="739827"/>
            <a:ext cx="4537038" cy="874142"/>
          </a:xfrm>
          <a:prstGeom prst="rect">
            <a:avLst/>
          </a:prstGeom>
        </p:spPr>
        <p:txBody>
          <a:bodyPr anchor="t" rtlCol="false" tIns="0" lIns="0" bIns="0" rIns="0">
            <a:spAutoFit/>
          </a:bodyPr>
          <a:lstStyle/>
          <a:p>
            <a:pPr algn="ctr">
              <a:lnSpc>
                <a:spcPts val="7193"/>
              </a:lnSpc>
            </a:pPr>
            <a:r>
              <a:rPr lang="en-US" b="true" sz="5138">
                <a:solidFill>
                  <a:srgbClr val="DC9390"/>
                </a:solidFill>
                <a:latin typeface="Tomorrow Bold"/>
                <a:ea typeface="Tomorrow Bold"/>
                <a:cs typeface="Tomorrow Bold"/>
                <a:sym typeface="Tomorrow Bold"/>
              </a:rPr>
              <a:t> Key Features</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slow">
    <p:fade/>
  </p:transition>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5E7E1"/>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DC9390">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DC9390">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5E7E1"/>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DC9390">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5E7E1"/>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DC9390">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DC9390">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5E7E1"/>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5691277" y="6923936"/>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1504195"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3010081"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4515518" y="8723991"/>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BF7976"/>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2165373" y="3475193"/>
            <a:ext cx="12350144" cy="3832696"/>
          </a:xfrm>
          <a:prstGeom prst="rect">
            <a:avLst/>
          </a:prstGeom>
        </p:spPr>
        <p:txBody>
          <a:bodyPr anchor="t" rtlCol="false" tIns="0" lIns="0" bIns="0" rIns="0">
            <a:spAutoFit/>
          </a:bodyPr>
          <a:lstStyle/>
          <a:p>
            <a:pPr algn="just">
              <a:lnSpc>
                <a:spcPts val="6099"/>
              </a:lnSpc>
            </a:pPr>
          </a:p>
          <a:p>
            <a:pPr algn="just" marL="940559" indent="-470280" lvl="1">
              <a:lnSpc>
                <a:spcPts val="6099"/>
              </a:lnSpc>
              <a:buFont typeface="Arial"/>
              <a:buChar char="•"/>
            </a:pPr>
            <a:r>
              <a:rPr lang="en-US" b="true" sz="4356">
                <a:solidFill>
                  <a:srgbClr val="000000"/>
                </a:solidFill>
                <a:latin typeface="Canva Sans Bold"/>
                <a:ea typeface="Canva Sans Bold"/>
                <a:cs typeface="Canva Sans Bold"/>
                <a:sym typeface="Canva Sans Bold"/>
              </a:rPr>
              <a:t>INSTITUTIONAL FEEDBACK.</a:t>
            </a:r>
            <a:r>
              <a:rPr lang="en-US" b="true" sz="4356">
                <a:solidFill>
                  <a:srgbClr val="DC9390"/>
                </a:solidFill>
                <a:latin typeface="Canva Sans Bold"/>
                <a:ea typeface="Canva Sans Bold"/>
                <a:cs typeface="Canva Sans Bold"/>
                <a:sym typeface="Canva Sans Bold"/>
              </a:rPr>
              <a:t> A system that allows students to provide honest, sometimes anonymous, feedback regarding university services.</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2" id="82"/>
          <p:cNvSpPr txBox="true"/>
          <p:nvPr/>
        </p:nvSpPr>
        <p:spPr>
          <a:xfrm rot="0">
            <a:off x="2894872" y="739827"/>
            <a:ext cx="4537038" cy="874142"/>
          </a:xfrm>
          <a:prstGeom prst="rect">
            <a:avLst/>
          </a:prstGeom>
        </p:spPr>
        <p:txBody>
          <a:bodyPr anchor="t" rtlCol="false" tIns="0" lIns="0" bIns="0" rIns="0">
            <a:spAutoFit/>
          </a:bodyPr>
          <a:lstStyle/>
          <a:p>
            <a:pPr algn="ctr">
              <a:lnSpc>
                <a:spcPts val="7193"/>
              </a:lnSpc>
            </a:pPr>
            <a:r>
              <a:rPr lang="en-US" b="true" sz="5138">
                <a:solidFill>
                  <a:srgbClr val="DC9390"/>
                </a:solidFill>
                <a:latin typeface="Tomorrow Bold"/>
                <a:ea typeface="Tomorrow Bold"/>
                <a:cs typeface="Tomorrow Bold"/>
                <a:sym typeface="Tomorrow Bold"/>
              </a:rPr>
              <a:t> Key Features</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slow">
    <p:fade/>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FFFFF"/>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F7976">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F7976">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FFFFF"/>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F7976">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FFFFF"/>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F7976">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F7976">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FFFFF"/>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5E7E1"/>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5E7E1"/>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1571447" y="8715223"/>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3043482"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4511269"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5979055" y="8732760"/>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5736197" y="6984928"/>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1" id="81"/>
          <p:cNvSpPr txBox="true"/>
          <p:nvPr/>
        </p:nvSpPr>
        <p:spPr>
          <a:xfrm rot="0">
            <a:off x="2071250" y="793409"/>
            <a:ext cx="6184281" cy="854969"/>
          </a:xfrm>
          <a:prstGeom prst="rect">
            <a:avLst/>
          </a:prstGeom>
        </p:spPr>
        <p:txBody>
          <a:bodyPr anchor="t" rtlCol="false" tIns="0" lIns="0" bIns="0" rIns="0">
            <a:spAutoFit/>
          </a:bodyPr>
          <a:lstStyle/>
          <a:p>
            <a:pPr algn="ctr">
              <a:lnSpc>
                <a:spcPts val="6950"/>
              </a:lnSpc>
            </a:pPr>
            <a:r>
              <a:rPr lang="en-US" sz="4964" b="true">
                <a:solidFill>
                  <a:srgbClr val="E0A899"/>
                </a:solidFill>
                <a:latin typeface="Tomorrow Bold"/>
                <a:ea typeface="Tomorrow Bold"/>
                <a:cs typeface="Tomorrow Bold"/>
                <a:sym typeface="Tomorrow Bold"/>
              </a:rPr>
              <a:t>Watch our Web</a:t>
            </a:r>
          </a:p>
        </p:txBody>
      </p:sp>
      <p:sp>
        <p:nvSpPr>
          <p:cNvPr name="TextBox 82" id="82"/>
          <p:cNvSpPr txBox="true"/>
          <p:nvPr/>
        </p:nvSpPr>
        <p:spPr>
          <a:xfrm rot="0">
            <a:off x="3816870" y="3970835"/>
            <a:ext cx="10808342" cy="3014093"/>
          </a:xfrm>
          <a:prstGeom prst="rect">
            <a:avLst/>
          </a:prstGeom>
        </p:spPr>
        <p:txBody>
          <a:bodyPr anchor="t" rtlCol="false" tIns="0" lIns="0" bIns="0" rIns="0">
            <a:spAutoFit/>
          </a:bodyPr>
          <a:lstStyle/>
          <a:p>
            <a:pPr algn="ctr">
              <a:lnSpc>
                <a:spcPts val="12147"/>
              </a:lnSpc>
            </a:pPr>
            <a:r>
              <a:rPr lang="en-US" sz="8677" b="true">
                <a:solidFill>
                  <a:srgbClr val="E0A899"/>
                </a:solidFill>
                <a:latin typeface="Tomorrow Bold"/>
                <a:ea typeface="Tomorrow Bold"/>
                <a:cs typeface="Tomorrow Bold"/>
                <a:sym typeface="Tomorrow Bold"/>
              </a:rPr>
              <a:t>LIVE DEMO</a:t>
            </a:r>
          </a:p>
          <a:p>
            <a:pPr algn="ctr">
              <a:lnSpc>
                <a:spcPts val="12147"/>
              </a:lnSpc>
            </a:pPr>
            <a:r>
              <a:rPr lang="en-US" sz="8677" b="true">
                <a:solidFill>
                  <a:srgbClr val="E0A899"/>
                </a:solidFill>
                <a:latin typeface="Tomorrow Bold"/>
                <a:ea typeface="Tomorrow Bold"/>
                <a:cs typeface="Tomorrow Bold"/>
                <a:sym typeface="Tomorrow Bold"/>
              </a:rPr>
              <a:t>PRESENTATION</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slow">
    <p:fade/>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FFFFF"/>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F7976">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F7976">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FFFFF"/>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F7976">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FFFFF"/>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F7976">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F7976">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FFFFF"/>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5E7E1"/>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5E7E1"/>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1571447" y="8715223"/>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3043482"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4511269"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5691277" y="6923936"/>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6020955" y="8732760"/>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121900" y="3181382"/>
            <a:ext cx="13396696" cy="2501975"/>
          </a:xfrm>
          <a:prstGeom prst="rect">
            <a:avLst/>
          </a:prstGeom>
        </p:spPr>
        <p:txBody>
          <a:bodyPr anchor="t" rtlCol="false" tIns="0" lIns="0" bIns="0" rIns="0">
            <a:spAutoFit/>
          </a:bodyPr>
          <a:lstStyle/>
          <a:p>
            <a:pPr algn="just" marL="1023074" indent="-511537" lvl="1">
              <a:lnSpc>
                <a:spcPts val="6634"/>
              </a:lnSpc>
              <a:buFont typeface="Arial"/>
              <a:buChar char="•"/>
            </a:pPr>
            <a:r>
              <a:rPr lang="en-US" b="true" sz="4738">
                <a:solidFill>
                  <a:srgbClr val="BF7976"/>
                </a:solidFill>
                <a:latin typeface="Canva Sans Bold"/>
                <a:ea typeface="Canva Sans Bold"/>
                <a:cs typeface="Canva Sans Bold"/>
                <a:sym typeface="Canva Sans Bold"/>
              </a:rPr>
              <a:t>MongoDB not connecting sometimes</a:t>
            </a:r>
          </a:p>
          <a:p>
            <a:pPr algn="just" marL="1023074" indent="-511537" lvl="1">
              <a:lnSpc>
                <a:spcPts val="6634"/>
              </a:lnSpc>
              <a:buFont typeface="Arial"/>
              <a:buChar char="•"/>
            </a:pPr>
            <a:r>
              <a:rPr lang="en-US" b="true" sz="4738">
                <a:solidFill>
                  <a:srgbClr val="BF7976"/>
                </a:solidFill>
                <a:latin typeface="Canva Sans Bold"/>
                <a:ea typeface="Canva Sans Bold"/>
                <a:cs typeface="Canva Sans Bold"/>
                <a:sym typeface="Canva Sans Bold"/>
              </a:rPr>
              <a:t>The Spotify API is not unlimited</a:t>
            </a:r>
          </a:p>
          <a:p>
            <a:pPr algn="just" marL="1023074" indent="-511537" lvl="1">
              <a:lnSpc>
                <a:spcPts val="6634"/>
              </a:lnSpc>
              <a:buFont typeface="Arial"/>
              <a:buChar char="•"/>
            </a:pPr>
            <a:r>
              <a:rPr lang="en-US" b="true" sz="4738">
                <a:solidFill>
                  <a:srgbClr val="BF7976"/>
                </a:solidFill>
                <a:latin typeface="Canva Sans Bold"/>
                <a:ea typeface="Canva Sans Bold"/>
                <a:cs typeface="Canva Sans Bold"/>
                <a:sym typeface="Canva Sans Bold"/>
              </a:rPr>
              <a:t>Creating a user</a:t>
            </a:r>
          </a:p>
        </p:txBody>
      </p:sp>
      <p:sp>
        <p:nvSpPr>
          <p:cNvPr name="TextBox 79" id="79"/>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80" id="80"/>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2" id="82"/>
          <p:cNvSpPr txBox="true"/>
          <p:nvPr/>
        </p:nvSpPr>
        <p:spPr>
          <a:xfrm rot="0">
            <a:off x="3065177" y="965072"/>
            <a:ext cx="4958604" cy="520040"/>
          </a:xfrm>
          <a:prstGeom prst="rect">
            <a:avLst/>
          </a:prstGeom>
        </p:spPr>
        <p:txBody>
          <a:bodyPr anchor="t" rtlCol="false" tIns="0" lIns="0" bIns="0" rIns="0">
            <a:spAutoFit/>
          </a:bodyPr>
          <a:lstStyle/>
          <a:p>
            <a:pPr algn="ctr">
              <a:lnSpc>
                <a:spcPts val="4274"/>
              </a:lnSpc>
            </a:pPr>
            <a:r>
              <a:rPr lang="en-US" sz="3053" b="true">
                <a:solidFill>
                  <a:srgbClr val="BF7976"/>
                </a:solidFill>
                <a:latin typeface="Tomorrow Bold"/>
                <a:ea typeface="Tomorrow Bold"/>
                <a:cs typeface="Tomorrow Bold"/>
                <a:sym typeface="Tomorrow Bold"/>
              </a:rPr>
              <a:t>Challenges Encountered</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EDE2D8"/>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776063" y="2506341"/>
            <a:ext cx="16230600" cy="6910428"/>
            <a:chOff x="0" y="0"/>
            <a:chExt cx="4274726" cy="1820030"/>
          </a:xfrm>
        </p:grpSpPr>
        <p:sp>
          <p:nvSpPr>
            <p:cNvPr name="Freeform 8" id="8"/>
            <p:cNvSpPr/>
            <p:nvPr/>
          </p:nvSpPr>
          <p:spPr>
            <a:xfrm flipH="false" flipV="false" rot="0">
              <a:off x="0" y="0"/>
              <a:ext cx="4274726" cy="1820030"/>
            </a:xfrm>
            <a:custGeom>
              <a:avLst/>
              <a:gdLst/>
              <a:ahLst/>
              <a:cxnLst/>
              <a:rect r="r" b="b" t="t" l="l"/>
              <a:pathLst>
                <a:path h="1820030" w="4274726">
                  <a:moveTo>
                    <a:pt x="13356" y="0"/>
                  </a:moveTo>
                  <a:lnTo>
                    <a:pt x="4261370" y="0"/>
                  </a:lnTo>
                  <a:cubicBezTo>
                    <a:pt x="4264912" y="0"/>
                    <a:pt x="4268309" y="1407"/>
                    <a:pt x="4270814" y="3912"/>
                  </a:cubicBezTo>
                  <a:cubicBezTo>
                    <a:pt x="4273319" y="6417"/>
                    <a:pt x="4274726" y="9814"/>
                    <a:pt x="4274726" y="13356"/>
                  </a:cubicBezTo>
                  <a:lnTo>
                    <a:pt x="4274726" y="1806675"/>
                  </a:lnTo>
                  <a:cubicBezTo>
                    <a:pt x="4274726" y="1810217"/>
                    <a:pt x="4273319" y="1813614"/>
                    <a:pt x="4270814" y="1816119"/>
                  </a:cubicBezTo>
                  <a:cubicBezTo>
                    <a:pt x="4268309" y="1818623"/>
                    <a:pt x="4264912" y="1820030"/>
                    <a:pt x="4261370" y="1820030"/>
                  </a:cubicBezTo>
                  <a:lnTo>
                    <a:pt x="13356" y="1820030"/>
                  </a:lnTo>
                  <a:cubicBezTo>
                    <a:pt x="9814" y="1820030"/>
                    <a:pt x="6417" y="1818623"/>
                    <a:pt x="3912" y="1816119"/>
                  </a:cubicBezTo>
                  <a:cubicBezTo>
                    <a:pt x="1407" y="1813614"/>
                    <a:pt x="0" y="1810217"/>
                    <a:pt x="0" y="1806675"/>
                  </a:cubicBezTo>
                  <a:lnTo>
                    <a:pt x="0" y="13356"/>
                  </a:lnTo>
                  <a:cubicBezTo>
                    <a:pt x="0" y="9814"/>
                    <a:pt x="1407" y="6417"/>
                    <a:pt x="3912" y="3912"/>
                  </a:cubicBezTo>
                  <a:cubicBezTo>
                    <a:pt x="6417" y="1407"/>
                    <a:pt x="9814" y="0"/>
                    <a:pt x="13356" y="0"/>
                  </a:cubicBezTo>
                  <a:close/>
                </a:path>
              </a:pathLst>
            </a:custGeom>
            <a:solidFill>
              <a:srgbClr val="BD6A73">
                <a:alpha val="29804"/>
              </a:srgbClr>
            </a:solidFill>
          </p:spPr>
        </p:sp>
        <p:sp>
          <p:nvSpPr>
            <p:cNvPr name="TextBox 9" id="9"/>
            <p:cNvSpPr txBox="true"/>
            <p:nvPr/>
          </p:nvSpPr>
          <p:spPr>
            <a:xfrm>
              <a:off x="0" y="-38100"/>
              <a:ext cx="4274726" cy="1858130"/>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D6A73">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EDE2D8"/>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D6A73">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81100" y="2368423"/>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EDE2D8"/>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9800618" y="3435676"/>
            <a:ext cx="4857043" cy="4345081"/>
            <a:chOff x="0" y="0"/>
            <a:chExt cx="1279221" cy="1144384"/>
          </a:xfrm>
        </p:grpSpPr>
        <p:sp>
          <p:nvSpPr>
            <p:cNvPr name="Freeform 29" id="29"/>
            <p:cNvSpPr/>
            <p:nvPr/>
          </p:nvSpPr>
          <p:spPr>
            <a:xfrm flipH="false" flipV="false" rot="0">
              <a:off x="0" y="0"/>
              <a:ext cx="1279221" cy="1144384"/>
            </a:xfrm>
            <a:custGeom>
              <a:avLst/>
              <a:gdLst/>
              <a:ahLst/>
              <a:cxnLst/>
              <a:rect r="r" b="b" t="t" l="l"/>
              <a:pathLst>
                <a:path h="1144384" w="1279221">
                  <a:moveTo>
                    <a:pt x="79698" y="0"/>
                  </a:moveTo>
                  <a:lnTo>
                    <a:pt x="1199523" y="0"/>
                  </a:lnTo>
                  <a:cubicBezTo>
                    <a:pt x="1220661" y="0"/>
                    <a:pt x="1240932" y="8397"/>
                    <a:pt x="1255878" y="23343"/>
                  </a:cubicBezTo>
                  <a:cubicBezTo>
                    <a:pt x="1270825" y="38289"/>
                    <a:pt x="1279221" y="58561"/>
                    <a:pt x="1279221" y="79698"/>
                  </a:cubicBezTo>
                  <a:lnTo>
                    <a:pt x="1279221" y="1064686"/>
                  </a:lnTo>
                  <a:cubicBezTo>
                    <a:pt x="1279221" y="1085823"/>
                    <a:pt x="1270825" y="1106094"/>
                    <a:pt x="1255878" y="1121041"/>
                  </a:cubicBezTo>
                  <a:cubicBezTo>
                    <a:pt x="1240932" y="1135987"/>
                    <a:pt x="1220661" y="1144384"/>
                    <a:pt x="1199523" y="1144384"/>
                  </a:cubicBezTo>
                  <a:lnTo>
                    <a:pt x="79698" y="1144384"/>
                  </a:lnTo>
                  <a:cubicBezTo>
                    <a:pt x="58561" y="1144384"/>
                    <a:pt x="38289" y="1135987"/>
                    <a:pt x="23343" y="1121041"/>
                  </a:cubicBezTo>
                  <a:cubicBezTo>
                    <a:pt x="8397" y="1106094"/>
                    <a:pt x="0" y="1085823"/>
                    <a:pt x="0" y="1064686"/>
                  </a:cubicBezTo>
                  <a:lnTo>
                    <a:pt x="0" y="79698"/>
                  </a:lnTo>
                  <a:cubicBezTo>
                    <a:pt x="0" y="58561"/>
                    <a:pt x="8397" y="38289"/>
                    <a:pt x="23343" y="23343"/>
                  </a:cubicBezTo>
                  <a:cubicBezTo>
                    <a:pt x="38289" y="8397"/>
                    <a:pt x="58561" y="0"/>
                    <a:pt x="79698" y="0"/>
                  </a:cubicBezTo>
                  <a:close/>
                </a:path>
              </a:pathLst>
            </a:custGeom>
            <a:solidFill>
              <a:srgbClr val="BD6A73">
                <a:alpha val="14902"/>
              </a:srgbClr>
            </a:solidFill>
          </p:spPr>
        </p:sp>
        <p:sp>
          <p:nvSpPr>
            <p:cNvPr name="TextBox 30" id="30"/>
            <p:cNvSpPr txBox="true"/>
            <p:nvPr/>
          </p:nvSpPr>
          <p:spPr>
            <a:xfrm>
              <a:off x="0" y="-38100"/>
              <a:ext cx="1279221" cy="1182484"/>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D6A73">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92758" y="0"/>
                  </a:moveTo>
                  <a:lnTo>
                    <a:pt x="865059" y="0"/>
                  </a:lnTo>
                  <a:cubicBezTo>
                    <a:pt x="971516" y="0"/>
                    <a:pt x="1057817" y="86301"/>
                    <a:pt x="1057817" y="192758"/>
                  </a:cubicBezTo>
                  <a:lnTo>
                    <a:pt x="1057817" y="834250"/>
                  </a:lnTo>
                  <a:cubicBezTo>
                    <a:pt x="1057817" y="940708"/>
                    <a:pt x="971516" y="1027008"/>
                    <a:pt x="865059" y="1027008"/>
                  </a:cubicBezTo>
                  <a:lnTo>
                    <a:pt x="192758" y="1027008"/>
                  </a:lnTo>
                  <a:cubicBezTo>
                    <a:pt x="141635" y="1027008"/>
                    <a:pt x="92607" y="1006700"/>
                    <a:pt x="56457" y="970551"/>
                  </a:cubicBezTo>
                  <a:cubicBezTo>
                    <a:pt x="20308" y="934402"/>
                    <a:pt x="0" y="885373"/>
                    <a:pt x="0" y="834250"/>
                  </a:cubicBezTo>
                  <a:lnTo>
                    <a:pt x="0" y="192758"/>
                  </a:lnTo>
                  <a:cubicBezTo>
                    <a:pt x="0" y="86301"/>
                    <a:pt x="86301" y="0"/>
                    <a:pt x="192758" y="0"/>
                  </a:cubicBezTo>
                  <a:close/>
                </a:path>
              </a:pathLst>
            </a:custGeom>
            <a:solidFill>
              <a:srgbClr val="EDE2D8"/>
            </a:solidFill>
            <a:ln cap="rnd">
              <a:no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37" id="37"/>
          <p:cNvGrpSpPr/>
          <p:nvPr/>
        </p:nvGrpSpPr>
        <p:grpSpPr>
          <a:xfrm rot="0">
            <a:off x="11941908" y="2619991"/>
            <a:ext cx="4590862" cy="4125000"/>
            <a:chOff x="0" y="0"/>
            <a:chExt cx="1209116" cy="1086420"/>
          </a:xfrm>
        </p:grpSpPr>
        <p:sp>
          <p:nvSpPr>
            <p:cNvPr name="Freeform 38" id="38"/>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39" id="39"/>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532019" y="8894229"/>
            <a:ext cx="2987514" cy="728142"/>
            <a:chOff x="0" y="0"/>
            <a:chExt cx="786835" cy="191774"/>
          </a:xfrm>
        </p:grpSpPr>
        <p:sp>
          <p:nvSpPr>
            <p:cNvPr name="Freeform 41" id="41"/>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2" id="42"/>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4934564" y="889422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6" id="46"/>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47" id="47"/>
          <p:cNvGrpSpPr/>
          <p:nvPr/>
        </p:nvGrpSpPr>
        <p:grpSpPr>
          <a:xfrm rot="0">
            <a:off x="15736197" y="6984928"/>
            <a:ext cx="1225545" cy="1246033"/>
            <a:chOff x="0" y="0"/>
            <a:chExt cx="322777" cy="328173"/>
          </a:xfrm>
        </p:grpSpPr>
        <p:sp>
          <p:nvSpPr>
            <p:cNvPr name="Freeform 48" id="48"/>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EDE2D8"/>
            </a:solidFill>
            <a:ln w="38100" cap="rnd">
              <a:solidFill>
                <a:srgbClr val="FFFFFF"/>
              </a:solidFill>
              <a:prstDash val="solid"/>
              <a:round/>
            </a:ln>
          </p:spPr>
        </p:sp>
        <p:sp>
          <p:nvSpPr>
            <p:cNvPr name="TextBox 49" id="49"/>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0" id="50"/>
          <p:cNvGrpSpPr/>
          <p:nvPr/>
        </p:nvGrpSpPr>
        <p:grpSpPr>
          <a:xfrm rot="-10800000">
            <a:off x="1471808" y="2658741"/>
            <a:ext cx="3755305" cy="2810157"/>
            <a:chOff x="0" y="0"/>
            <a:chExt cx="1863016" cy="1394126"/>
          </a:xfrm>
        </p:grpSpPr>
        <p:sp>
          <p:nvSpPr>
            <p:cNvPr name="Freeform 51" id="51"/>
            <p:cNvSpPr/>
            <p:nvPr/>
          </p:nvSpPr>
          <p:spPr>
            <a:xfrm flipH="true" flipV="true" rot="0">
              <a:off x="0" y="0"/>
              <a:ext cx="1863016" cy="1394126"/>
            </a:xfrm>
            <a:custGeom>
              <a:avLst/>
              <a:gdLst/>
              <a:ahLst/>
              <a:cxnLst/>
              <a:rect r="r" b="b" t="t" l="l"/>
              <a:pathLst>
                <a:path h="1394126" w="1863016">
                  <a:moveTo>
                    <a:pt x="1223598" y="1306031"/>
                  </a:moveTo>
                  <a:lnTo>
                    <a:pt x="1223598" y="1147916"/>
                  </a:lnTo>
                  <a:cubicBezTo>
                    <a:pt x="1223598" y="1126986"/>
                    <a:pt x="1231050" y="1106740"/>
                    <a:pt x="1244619" y="1090804"/>
                  </a:cubicBezTo>
                  <a:lnTo>
                    <a:pt x="1412312" y="893863"/>
                  </a:lnTo>
                  <a:cubicBezTo>
                    <a:pt x="1429049" y="874204"/>
                    <a:pt x="1453567" y="862876"/>
                    <a:pt x="1479386" y="862875"/>
                  </a:cubicBezTo>
                  <a:lnTo>
                    <a:pt x="1774921" y="862875"/>
                  </a:lnTo>
                  <a:cubicBezTo>
                    <a:pt x="1823572" y="862875"/>
                    <a:pt x="1863012" y="823437"/>
                    <a:pt x="1863016" y="774786"/>
                  </a:cubicBezTo>
                  <a:lnTo>
                    <a:pt x="1863016" y="88094"/>
                  </a:lnTo>
                  <a:cubicBezTo>
                    <a:pt x="1863015" y="39441"/>
                    <a:pt x="1823574" y="0"/>
                    <a:pt x="1774921" y="0"/>
                  </a:cubicBezTo>
                  <a:lnTo>
                    <a:pt x="88095" y="0"/>
                  </a:lnTo>
                  <a:cubicBezTo>
                    <a:pt x="39442" y="0"/>
                    <a:pt x="1" y="39441"/>
                    <a:pt x="0" y="88094"/>
                  </a:cubicBezTo>
                  <a:lnTo>
                    <a:pt x="0" y="1306031"/>
                  </a:lnTo>
                  <a:cubicBezTo>
                    <a:pt x="0" y="1329395"/>
                    <a:pt x="9281" y="1351803"/>
                    <a:pt x="25802" y="1368324"/>
                  </a:cubicBezTo>
                  <a:cubicBezTo>
                    <a:pt x="42323" y="1384845"/>
                    <a:pt x="64731" y="1394126"/>
                    <a:pt x="88095" y="1394126"/>
                  </a:cubicBezTo>
                  <a:lnTo>
                    <a:pt x="1135503" y="1394126"/>
                  </a:lnTo>
                  <a:cubicBezTo>
                    <a:pt x="1184156" y="1394126"/>
                    <a:pt x="1223598" y="1354685"/>
                    <a:pt x="1223598" y="1306031"/>
                  </a:cubicBezTo>
                  <a:close/>
                </a:path>
              </a:pathLst>
            </a:custGeom>
            <a:solidFill>
              <a:srgbClr val="BD6A73">
                <a:alpha val="33725"/>
              </a:srgbClr>
            </a:solidFill>
          </p:spPr>
        </p:sp>
      </p:grpSp>
      <p:grpSp>
        <p:nvGrpSpPr>
          <p:cNvPr name="Group 52" id="52"/>
          <p:cNvGrpSpPr/>
          <p:nvPr/>
        </p:nvGrpSpPr>
        <p:grpSpPr>
          <a:xfrm rot="-10800000">
            <a:off x="1254898" y="2586378"/>
            <a:ext cx="3755305" cy="2810157"/>
            <a:chOff x="0" y="0"/>
            <a:chExt cx="1863016" cy="1394126"/>
          </a:xfrm>
        </p:grpSpPr>
        <p:sp>
          <p:nvSpPr>
            <p:cNvPr name="Freeform 53" id="53"/>
            <p:cNvSpPr/>
            <p:nvPr/>
          </p:nvSpPr>
          <p:spPr>
            <a:xfrm flipH="true" flipV="true" rot="0">
              <a:off x="0" y="0"/>
              <a:ext cx="1863016" cy="1394126"/>
            </a:xfrm>
            <a:custGeom>
              <a:avLst/>
              <a:gdLst/>
              <a:ahLst/>
              <a:cxnLst/>
              <a:rect r="r" b="b" t="t" l="l"/>
              <a:pathLst>
                <a:path h="1394126" w="1863016">
                  <a:moveTo>
                    <a:pt x="1223598" y="1306031"/>
                  </a:moveTo>
                  <a:lnTo>
                    <a:pt x="1223598" y="1147916"/>
                  </a:lnTo>
                  <a:cubicBezTo>
                    <a:pt x="1223598" y="1126986"/>
                    <a:pt x="1231050" y="1106740"/>
                    <a:pt x="1244619" y="1090804"/>
                  </a:cubicBezTo>
                  <a:lnTo>
                    <a:pt x="1412312" y="893863"/>
                  </a:lnTo>
                  <a:cubicBezTo>
                    <a:pt x="1429049" y="874204"/>
                    <a:pt x="1453567" y="862876"/>
                    <a:pt x="1479386" y="862875"/>
                  </a:cubicBezTo>
                  <a:lnTo>
                    <a:pt x="1774921" y="862875"/>
                  </a:lnTo>
                  <a:cubicBezTo>
                    <a:pt x="1823572" y="862875"/>
                    <a:pt x="1863012" y="823437"/>
                    <a:pt x="1863016" y="774786"/>
                  </a:cubicBezTo>
                  <a:lnTo>
                    <a:pt x="1863016" y="88094"/>
                  </a:lnTo>
                  <a:cubicBezTo>
                    <a:pt x="1863015" y="39441"/>
                    <a:pt x="1823574" y="0"/>
                    <a:pt x="1774921" y="0"/>
                  </a:cubicBezTo>
                  <a:lnTo>
                    <a:pt x="88095" y="0"/>
                  </a:lnTo>
                  <a:cubicBezTo>
                    <a:pt x="39442" y="0"/>
                    <a:pt x="1" y="39441"/>
                    <a:pt x="0" y="88094"/>
                  </a:cubicBezTo>
                  <a:lnTo>
                    <a:pt x="0" y="1306031"/>
                  </a:lnTo>
                  <a:cubicBezTo>
                    <a:pt x="0" y="1329395"/>
                    <a:pt x="9281" y="1351803"/>
                    <a:pt x="25802" y="1368324"/>
                  </a:cubicBezTo>
                  <a:cubicBezTo>
                    <a:pt x="42323" y="1384845"/>
                    <a:pt x="64731" y="1394126"/>
                    <a:pt x="88095" y="1394126"/>
                  </a:cubicBezTo>
                  <a:lnTo>
                    <a:pt x="1135503" y="1394126"/>
                  </a:lnTo>
                  <a:cubicBezTo>
                    <a:pt x="1184156" y="1394126"/>
                    <a:pt x="1223598" y="1354685"/>
                    <a:pt x="1223598" y="1306031"/>
                  </a:cubicBezTo>
                  <a:close/>
                </a:path>
              </a:pathLst>
            </a:custGeom>
            <a:blipFill>
              <a:blip r:embed="rId6"/>
              <a:stretch>
                <a:fillRect l="0" t="0" r="-62236" b="0"/>
              </a:stretch>
            </a:blipFill>
            <a:ln cap="sq">
              <a:noFill/>
              <a:prstDash val="solid"/>
              <a:miter/>
            </a:ln>
          </p:spPr>
        </p:sp>
      </p:grpSp>
      <p:grpSp>
        <p:nvGrpSpPr>
          <p:cNvPr name="Group 54" id="54"/>
          <p:cNvGrpSpPr/>
          <p:nvPr/>
        </p:nvGrpSpPr>
        <p:grpSpPr>
          <a:xfrm rot="-10800000">
            <a:off x="5863127" y="2658741"/>
            <a:ext cx="3821637" cy="2763844"/>
            <a:chOff x="0" y="0"/>
            <a:chExt cx="1927693" cy="1394126"/>
          </a:xfrm>
        </p:grpSpPr>
        <p:sp>
          <p:nvSpPr>
            <p:cNvPr name="Freeform 55" id="55"/>
            <p:cNvSpPr/>
            <p:nvPr/>
          </p:nvSpPr>
          <p:spPr>
            <a:xfrm flipH="false" flipV="true" rot="0">
              <a:off x="0" y="0"/>
              <a:ext cx="1927693" cy="1394126"/>
            </a:xfrm>
            <a:custGeom>
              <a:avLst/>
              <a:gdLst/>
              <a:ahLst/>
              <a:cxnLst/>
              <a:rect r="r" b="b" t="t" l="l"/>
              <a:pathLst>
                <a:path h="1394126" w="1927693">
                  <a:moveTo>
                    <a:pt x="639418" y="1306031"/>
                  </a:moveTo>
                  <a:lnTo>
                    <a:pt x="639418" y="1147916"/>
                  </a:lnTo>
                  <a:cubicBezTo>
                    <a:pt x="639418" y="1126986"/>
                    <a:pt x="631966" y="1106740"/>
                    <a:pt x="618397" y="1090804"/>
                  </a:cubicBezTo>
                  <a:lnTo>
                    <a:pt x="450704" y="893863"/>
                  </a:lnTo>
                  <a:cubicBezTo>
                    <a:pt x="433967" y="874204"/>
                    <a:pt x="409449" y="862876"/>
                    <a:pt x="383630" y="862875"/>
                  </a:cubicBezTo>
                  <a:lnTo>
                    <a:pt x="88095" y="862875"/>
                  </a:lnTo>
                  <a:cubicBezTo>
                    <a:pt x="39444" y="862875"/>
                    <a:pt x="4" y="823437"/>
                    <a:pt x="0" y="774786"/>
                  </a:cubicBezTo>
                  <a:lnTo>
                    <a:pt x="0" y="88094"/>
                  </a:lnTo>
                  <a:cubicBezTo>
                    <a:pt x="1" y="39441"/>
                    <a:pt x="39442" y="0"/>
                    <a:pt x="88095" y="0"/>
                  </a:cubicBezTo>
                  <a:lnTo>
                    <a:pt x="1839599" y="0"/>
                  </a:lnTo>
                  <a:cubicBezTo>
                    <a:pt x="1888251" y="0"/>
                    <a:pt x="1927693" y="39441"/>
                    <a:pt x="1927693" y="88094"/>
                  </a:cubicBezTo>
                  <a:lnTo>
                    <a:pt x="1927693" y="1306031"/>
                  </a:lnTo>
                  <a:cubicBezTo>
                    <a:pt x="1927693" y="1329395"/>
                    <a:pt x="1918412" y="1351803"/>
                    <a:pt x="1901891" y="1368324"/>
                  </a:cubicBezTo>
                  <a:cubicBezTo>
                    <a:pt x="1885370" y="1384845"/>
                    <a:pt x="1862963" y="1394126"/>
                    <a:pt x="1839599" y="1394126"/>
                  </a:cubicBezTo>
                  <a:lnTo>
                    <a:pt x="727513" y="1394126"/>
                  </a:lnTo>
                  <a:cubicBezTo>
                    <a:pt x="678860" y="1394126"/>
                    <a:pt x="639418" y="1354685"/>
                    <a:pt x="639418" y="1306031"/>
                  </a:cubicBezTo>
                  <a:close/>
                </a:path>
              </a:pathLst>
            </a:custGeom>
            <a:solidFill>
              <a:srgbClr val="BD6A73">
                <a:alpha val="34902"/>
              </a:srgbClr>
            </a:solidFill>
          </p:spPr>
        </p:sp>
      </p:grpSp>
      <p:grpSp>
        <p:nvGrpSpPr>
          <p:cNvPr name="Group 56" id="56"/>
          <p:cNvGrpSpPr/>
          <p:nvPr/>
        </p:nvGrpSpPr>
        <p:grpSpPr>
          <a:xfrm rot="-10800000">
            <a:off x="5710727" y="2506341"/>
            <a:ext cx="3821637" cy="2763844"/>
            <a:chOff x="0" y="0"/>
            <a:chExt cx="1927693" cy="1394126"/>
          </a:xfrm>
        </p:grpSpPr>
        <p:sp>
          <p:nvSpPr>
            <p:cNvPr name="Freeform 57" id="57"/>
            <p:cNvSpPr/>
            <p:nvPr/>
          </p:nvSpPr>
          <p:spPr>
            <a:xfrm flipH="true" flipV="true" rot="0">
              <a:off x="0" y="0"/>
              <a:ext cx="1927693" cy="1394126"/>
            </a:xfrm>
            <a:custGeom>
              <a:avLst/>
              <a:gdLst/>
              <a:ahLst/>
              <a:cxnLst/>
              <a:rect r="r" b="b" t="t" l="l"/>
              <a:pathLst>
                <a:path h="1394126" w="1927693">
                  <a:moveTo>
                    <a:pt x="1288275" y="1306031"/>
                  </a:moveTo>
                  <a:lnTo>
                    <a:pt x="1288275" y="1147916"/>
                  </a:lnTo>
                  <a:cubicBezTo>
                    <a:pt x="1288275" y="1126986"/>
                    <a:pt x="1295727" y="1106740"/>
                    <a:pt x="1309296" y="1090804"/>
                  </a:cubicBezTo>
                  <a:lnTo>
                    <a:pt x="1476989" y="893863"/>
                  </a:lnTo>
                  <a:cubicBezTo>
                    <a:pt x="1493726" y="874204"/>
                    <a:pt x="1518245" y="862876"/>
                    <a:pt x="1544063" y="862875"/>
                  </a:cubicBezTo>
                  <a:lnTo>
                    <a:pt x="1839599" y="862875"/>
                  </a:lnTo>
                  <a:cubicBezTo>
                    <a:pt x="1888249" y="862875"/>
                    <a:pt x="1927690" y="823437"/>
                    <a:pt x="1927693" y="774786"/>
                  </a:cubicBezTo>
                  <a:lnTo>
                    <a:pt x="1927693" y="88094"/>
                  </a:lnTo>
                  <a:cubicBezTo>
                    <a:pt x="1927693" y="39441"/>
                    <a:pt x="1888251" y="0"/>
                    <a:pt x="1839599" y="0"/>
                  </a:cubicBezTo>
                  <a:lnTo>
                    <a:pt x="88095" y="0"/>
                  </a:lnTo>
                  <a:cubicBezTo>
                    <a:pt x="39442" y="0"/>
                    <a:pt x="1" y="39441"/>
                    <a:pt x="0" y="88094"/>
                  </a:cubicBezTo>
                  <a:lnTo>
                    <a:pt x="0" y="1306031"/>
                  </a:lnTo>
                  <a:cubicBezTo>
                    <a:pt x="0" y="1329395"/>
                    <a:pt x="9281" y="1351803"/>
                    <a:pt x="25802" y="1368324"/>
                  </a:cubicBezTo>
                  <a:cubicBezTo>
                    <a:pt x="42323" y="1384845"/>
                    <a:pt x="64731" y="1394126"/>
                    <a:pt x="88095" y="1394126"/>
                  </a:cubicBezTo>
                  <a:lnTo>
                    <a:pt x="1200180" y="1394126"/>
                  </a:lnTo>
                  <a:cubicBezTo>
                    <a:pt x="1248834" y="1394126"/>
                    <a:pt x="1288275" y="1354685"/>
                    <a:pt x="1288275" y="1306031"/>
                  </a:cubicBezTo>
                  <a:close/>
                </a:path>
              </a:pathLst>
            </a:custGeom>
            <a:blipFill>
              <a:blip r:embed="rId7"/>
              <a:stretch>
                <a:fillRect l="0" t="0" r="-56369" b="0"/>
              </a:stretch>
            </a:blipFill>
          </p:spPr>
        </p:sp>
      </p:grpSp>
      <p:grpSp>
        <p:nvGrpSpPr>
          <p:cNvPr name="Group 58" id="58"/>
          <p:cNvGrpSpPr/>
          <p:nvPr/>
        </p:nvGrpSpPr>
        <p:grpSpPr>
          <a:xfrm rot="-10800000">
            <a:off x="1407298" y="5742799"/>
            <a:ext cx="3908493" cy="2810157"/>
            <a:chOff x="0" y="0"/>
            <a:chExt cx="1939013" cy="1394126"/>
          </a:xfrm>
        </p:grpSpPr>
        <p:sp>
          <p:nvSpPr>
            <p:cNvPr name="Freeform 59" id="59"/>
            <p:cNvSpPr/>
            <p:nvPr/>
          </p:nvSpPr>
          <p:spPr>
            <a:xfrm flipH="true" flipV="true" rot="0">
              <a:off x="0" y="0"/>
              <a:ext cx="1939013" cy="1394126"/>
            </a:xfrm>
            <a:custGeom>
              <a:avLst/>
              <a:gdLst/>
              <a:ahLst/>
              <a:cxnLst/>
              <a:rect r="r" b="b" t="t" l="l"/>
              <a:pathLst>
                <a:path h="1394126" w="1939013">
                  <a:moveTo>
                    <a:pt x="1299595" y="1306031"/>
                  </a:moveTo>
                  <a:lnTo>
                    <a:pt x="1299595" y="1147916"/>
                  </a:lnTo>
                  <a:cubicBezTo>
                    <a:pt x="1299595" y="1126986"/>
                    <a:pt x="1307047" y="1106740"/>
                    <a:pt x="1320616" y="1090804"/>
                  </a:cubicBezTo>
                  <a:lnTo>
                    <a:pt x="1488309" y="893863"/>
                  </a:lnTo>
                  <a:cubicBezTo>
                    <a:pt x="1505046" y="874204"/>
                    <a:pt x="1529564" y="862876"/>
                    <a:pt x="1555383" y="862875"/>
                  </a:cubicBezTo>
                  <a:lnTo>
                    <a:pt x="1850918" y="862875"/>
                  </a:lnTo>
                  <a:cubicBezTo>
                    <a:pt x="1899569" y="862875"/>
                    <a:pt x="1939010" y="823437"/>
                    <a:pt x="1939013" y="774786"/>
                  </a:cubicBezTo>
                  <a:lnTo>
                    <a:pt x="1939013" y="88094"/>
                  </a:lnTo>
                  <a:cubicBezTo>
                    <a:pt x="1939013" y="39441"/>
                    <a:pt x="1899571" y="0"/>
                    <a:pt x="1850918" y="0"/>
                  </a:cubicBezTo>
                  <a:lnTo>
                    <a:pt x="88095" y="0"/>
                  </a:lnTo>
                  <a:cubicBezTo>
                    <a:pt x="39442" y="0"/>
                    <a:pt x="1" y="39441"/>
                    <a:pt x="0" y="88094"/>
                  </a:cubicBezTo>
                  <a:lnTo>
                    <a:pt x="0" y="1306031"/>
                  </a:lnTo>
                  <a:cubicBezTo>
                    <a:pt x="0" y="1329395"/>
                    <a:pt x="9281" y="1351803"/>
                    <a:pt x="25802" y="1368324"/>
                  </a:cubicBezTo>
                  <a:cubicBezTo>
                    <a:pt x="42323" y="1384845"/>
                    <a:pt x="64731" y="1394126"/>
                    <a:pt x="88095" y="1394126"/>
                  </a:cubicBezTo>
                  <a:lnTo>
                    <a:pt x="1211500" y="1394126"/>
                  </a:lnTo>
                  <a:cubicBezTo>
                    <a:pt x="1260154" y="1394126"/>
                    <a:pt x="1299595" y="1354685"/>
                    <a:pt x="1299595" y="1306031"/>
                  </a:cubicBezTo>
                  <a:close/>
                </a:path>
              </a:pathLst>
            </a:custGeom>
            <a:solidFill>
              <a:srgbClr val="BD6A73">
                <a:alpha val="36863"/>
              </a:srgbClr>
            </a:solidFill>
          </p:spPr>
        </p:sp>
      </p:grpSp>
      <p:grpSp>
        <p:nvGrpSpPr>
          <p:cNvPr name="Group 60" id="60"/>
          <p:cNvGrpSpPr/>
          <p:nvPr/>
        </p:nvGrpSpPr>
        <p:grpSpPr>
          <a:xfrm rot="-10800000">
            <a:off x="1254898" y="5590399"/>
            <a:ext cx="3908493" cy="2810157"/>
            <a:chOff x="0" y="0"/>
            <a:chExt cx="1939013" cy="1394126"/>
          </a:xfrm>
        </p:grpSpPr>
        <p:sp>
          <p:nvSpPr>
            <p:cNvPr name="Freeform 61" id="61"/>
            <p:cNvSpPr/>
            <p:nvPr/>
          </p:nvSpPr>
          <p:spPr>
            <a:xfrm flipH="true" flipV="true" rot="0">
              <a:off x="0" y="0"/>
              <a:ext cx="1939013" cy="1394126"/>
            </a:xfrm>
            <a:custGeom>
              <a:avLst/>
              <a:gdLst/>
              <a:ahLst/>
              <a:cxnLst/>
              <a:rect r="r" b="b" t="t" l="l"/>
              <a:pathLst>
                <a:path h="1394126" w="1939013">
                  <a:moveTo>
                    <a:pt x="1299595" y="1306031"/>
                  </a:moveTo>
                  <a:lnTo>
                    <a:pt x="1299595" y="1147916"/>
                  </a:lnTo>
                  <a:cubicBezTo>
                    <a:pt x="1299595" y="1126986"/>
                    <a:pt x="1307047" y="1106740"/>
                    <a:pt x="1320616" y="1090804"/>
                  </a:cubicBezTo>
                  <a:lnTo>
                    <a:pt x="1488309" y="893863"/>
                  </a:lnTo>
                  <a:cubicBezTo>
                    <a:pt x="1505046" y="874204"/>
                    <a:pt x="1529564" y="862876"/>
                    <a:pt x="1555383" y="862875"/>
                  </a:cubicBezTo>
                  <a:lnTo>
                    <a:pt x="1850918" y="862875"/>
                  </a:lnTo>
                  <a:cubicBezTo>
                    <a:pt x="1899569" y="862875"/>
                    <a:pt x="1939010" y="823437"/>
                    <a:pt x="1939013" y="774786"/>
                  </a:cubicBezTo>
                  <a:lnTo>
                    <a:pt x="1939013" y="88094"/>
                  </a:lnTo>
                  <a:cubicBezTo>
                    <a:pt x="1939013" y="39441"/>
                    <a:pt x="1899571" y="0"/>
                    <a:pt x="1850918" y="0"/>
                  </a:cubicBezTo>
                  <a:lnTo>
                    <a:pt x="88095" y="0"/>
                  </a:lnTo>
                  <a:cubicBezTo>
                    <a:pt x="39442" y="0"/>
                    <a:pt x="1" y="39441"/>
                    <a:pt x="0" y="88094"/>
                  </a:cubicBezTo>
                  <a:lnTo>
                    <a:pt x="0" y="1306031"/>
                  </a:lnTo>
                  <a:cubicBezTo>
                    <a:pt x="0" y="1329395"/>
                    <a:pt x="9281" y="1351803"/>
                    <a:pt x="25802" y="1368324"/>
                  </a:cubicBezTo>
                  <a:cubicBezTo>
                    <a:pt x="42323" y="1384845"/>
                    <a:pt x="64731" y="1394126"/>
                    <a:pt x="88095" y="1394126"/>
                  </a:cubicBezTo>
                  <a:lnTo>
                    <a:pt x="1211500" y="1394126"/>
                  </a:lnTo>
                  <a:cubicBezTo>
                    <a:pt x="1260154" y="1394126"/>
                    <a:pt x="1299595" y="1354685"/>
                    <a:pt x="1299595" y="1306031"/>
                  </a:cubicBezTo>
                  <a:close/>
                </a:path>
              </a:pathLst>
            </a:custGeom>
            <a:blipFill>
              <a:blip r:embed="rId8"/>
              <a:stretch>
                <a:fillRect l="0" t="0" r="-54206" b="0"/>
              </a:stretch>
            </a:blipFill>
          </p:spPr>
        </p:sp>
      </p:grpSp>
      <p:grpSp>
        <p:nvGrpSpPr>
          <p:cNvPr name="Group 62" id="62"/>
          <p:cNvGrpSpPr/>
          <p:nvPr/>
        </p:nvGrpSpPr>
        <p:grpSpPr>
          <a:xfrm rot="-10800000">
            <a:off x="5863127" y="5742799"/>
            <a:ext cx="3908493" cy="2810157"/>
            <a:chOff x="0" y="0"/>
            <a:chExt cx="1939013" cy="1394126"/>
          </a:xfrm>
        </p:grpSpPr>
        <p:sp>
          <p:nvSpPr>
            <p:cNvPr name="Freeform 63" id="63"/>
            <p:cNvSpPr/>
            <p:nvPr/>
          </p:nvSpPr>
          <p:spPr>
            <a:xfrm flipH="true" flipV="true" rot="0">
              <a:off x="0" y="0"/>
              <a:ext cx="1939013" cy="1394126"/>
            </a:xfrm>
            <a:custGeom>
              <a:avLst/>
              <a:gdLst/>
              <a:ahLst/>
              <a:cxnLst/>
              <a:rect r="r" b="b" t="t" l="l"/>
              <a:pathLst>
                <a:path h="1394126" w="1939013">
                  <a:moveTo>
                    <a:pt x="1299595" y="1306031"/>
                  </a:moveTo>
                  <a:lnTo>
                    <a:pt x="1299595" y="1147916"/>
                  </a:lnTo>
                  <a:cubicBezTo>
                    <a:pt x="1299595" y="1126986"/>
                    <a:pt x="1307047" y="1106740"/>
                    <a:pt x="1320616" y="1090804"/>
                  </a:cubicBezTo>
                  <a:lnTo>
                    <a:pt x="1488309" y="893863"/>
                  </a:lnTo>
                  <a:cubicBezTo>
                    <a:pt x="1505046" y="874204"/>
                    <a:pt x="1529564" y="862876"/>
                    <a:pt x="1555383" y="862875"/>
                  </a:cubicBezTo>
                  <a:lnTo>
                    <a:pt x="1850918" y="862875"/>
                  </a:lnTo>
                  <a:cubicBezTo>
                    <a:pt x="1899569" y="862875"/>
                    <a:pt x="1939010" y="823437"/>
                    <a:pt x="1939013" y="774786"/>
                  </a:cubicBezTo>
                  <a:lnTo>
                    <a:pt x="1939013" y="88094"/>
                  </a:lnTo>
                  <a:cubicBezTo>
                    <a:pt x="1939013" y="39441"/>
                    <a:pt x="1899571" y="0"/>
                    <a:pt x="1850918" y="0"/>
                  </a:cubicBezTo>
                  <a:lnTo>
                    <a:pt x="88095" y="0"/>
                  </a:lnTo>
                  <a:cubicBezTo>
                    <a:pt x="39442" y="0"/>
                    <a:pt x="1" y="39441"/>
                    <a:pt x="0" y="88094"/>
                  </a:cubicBezTo>
                  <a:lnTo>
                    <a:pt x="0" y="1306031"/>
                  </a:lnTo>
                  <a:cubicBezTo>
                    <a:pt x="0" y="1329395"/>
                    <a:pt x="9281" y="1351803"/>
                    <a:pt x="25802" y="1368324"/>
                  </a:cubicBezTo>
                  <a:cubicBezTo>
                    <a:pt x="42323" y="1384845"/>
                    <a:pt x="64731" y="1394126"/>
                    <a:pt x="88095" y="1394126"/>
                  </a:cubicBezTo>
                  <a:lnTo>
                    <a:pt x="1211500" y="1394126"/>
                  </a:lnTo>
                  <a:cubicBezTo>
                    <a:pt x="1260154" y="1394126"/>
                    <a:pt x="1299595" y="1354685"/>
                    <a:pt x="1299595" y="1306031"/>
                  </a:cubicBezTo>
                  <a:close/>
                </a:path>
              </a:pathLst>
            </a:custGeom>
            <a:solidFill>
              <a:srgbClr val="BD6A73">
                <a:alpha val="34902"/>
              </a:srgbClr>
            </a:solidFill>
          </p:spPr>
        </p:sp>
      </p:grpSp>
      <p:grpSp>
        <p:nvGrpSpPr>
          <p:cNvPr name="Group 64" id="64"/>
          <p:cNvGrpSpPr/>
          <p:nvPr/>
        </p:nvGrpSpPr>
        <p:grpSpPr>
          <a:xfrm rot="-10800000">
            <a:off x="5710727" y="5590399"/>
            <a:ext cx="3908493" cy="2810157"/>
            <a:chOff x="0" y="0"/>
            <a:chExt cx="1939013" cy="1394126"/>
          </a:xfrm>
        </p:grpSpPr>
        <p:sp>
          <p:nvSpPr>
            <p:cNvPr name="Freeform 65" id="65"/>
            <p:cNvSpPr/>
            <p:nvPr/>
          </p:nvSpPr>
          <p:spPr>
            <a:xfrm flipH="true" flipV="true" rot="0">
              <a:off x="0" y="0"/>
              <a:ext cx="1939013" cy="1394126"/>
            </a:xfrm>
            <a:custGeom>
              <a:avLst/>
              <a:gdLst/>
              <a:ahLst/>
              <a:cxnLst/>
              <a:rect r="r" b="b" t="t" l="l"/>
              <a:pathLst>
                <a:path h="1394126" w="1939013">
                  <a:moveTo>
                    <a:pt x="1299595" y="1306031"/>
                  </a:moveTo>
                  <a:lnTo>
                    <a:pt x="1299595" y="1147916"/>
                  </a:lnTo>
                  <a:cubicBezTo>
                    <a:pt x="1299595" y="1126986"/>
                    <a:pt x="1307047" y="1106740"/>
                    <a:pt x="1320616" y="1090804"/>
                  </a:cubicBezTo>
                  <a:lnTo>
                    <a:pt x="1488309" y="893863"/>
                  </a:lnTo>
                  <a:cubicBezTo>
                    <a:pt x="1505046" y="874204"/>
                    <a:pt x="1529564" y="862876"/>
                    <a:pt x="1555383" y="862875"/>
                  </a:cubicBezTo>
                  <a:lnTo>
                    <a:pt x="1850918" y="862875"/>
                  </a:lnTo>
                  <a:cubicBezTo>
                    <a:pt x="1899569" y="862875"/>
                    <a:pt x="1939010" y="823437"/>
                    <a:pt x="1939013" y="774786"/>
                  </a:cubicBezTo>
                  <a:lnTo>
                    <a:pt x="1939013" y="88094"/>
                  </a:lnTo>
                  <a:cubicBezTo>
                    <a:pt x="1939013" y="39441"/>
                    <a:pt x="1899571" y="0"/>
                    <a:pt x="1850918" y="0"/>
                  </a:cubicBezTo>
                  <a:lnTo>
                    <a:pt x="88095" y="0"/>
                  </a:lnTo>
                  <a:cubicBezTo>
                    <a:pt x="39442" y="0"/>
                    <a:pt x="1" y="39441"/>
                    <a:pt x="0" y="88094"/>
                  </a:cubicBezTo>
                  <a:lnTo>
                    <a:pt x="0" y="1306031"/>
                  </a:lnTo>
                  <a:cubicBezTo>
                    <a:pt x="0" y="1329395"/>
                    <a:pt x="9281" y="1351803"/>
                    <a:pt x="25802" y="1368324"/>
                  </a:cubicBezTo>
                  <a:cubicBezTo>
                    <a:pt x="42323" y="1384845"/>
                    <a:pt x="64731" y="1394126"/>
                    <a:pt x="88095" y="1394126"/>
                  </a:cubicBezTo>
                  <a:lnTo>
                    <a:pt x="1211500" y="1394126"/>
                  </a:lnTo>
                  <a:cubicBezTo>
                    <a:pt x="1260154" y="1394126"/>
                    <a:pt x="1299595" y="1354685"/>
                    <a:pt x="1299595" y="1306031"/>
                  </a:cubicBezTo>
                  <a:close/>
                </a:path>
              </a:pathLst>
            </a:custGeom>
            <a:blipFill>
              <a:blip r:embed="rId9"/>
              <a:stretch>
                <a:fillRect l="0" t="0" r="-61570" b="0"/>
              </a:stretch>
            </a:blipFill>
          </p:spPr>
        </p:sp>
      </p:grpSp>
      <p:grpSp>
        <p:nvGrpSpPr>
          <p:cNvPr name="Group 66" id="66"/>
          <p:cNvGrpSpPr/>
          <p:nvPr/>
        </p:nvGrpSpPr>
        <p:grpSpPr>
          <a:xfrm rot="0">
            <a:off x="10098887" y="3435676"/>
            <a:ext cx="4682426" cy="4172770"/>
            <a:chOff x="0" y="0"/>
            <a:chExt cx="725430" cy="646471"/>
          </a:xfrm>
        </p:grpSpPr>
        <p:sp>
          <p:nvSpPr>
            <p:cNvPr name="Freeform 67" id="67"/>
            <p:cNvSpPr/>
            <p:nvPr/>
          </p:nvSpPr>
          <p:spPr>
            <a:xfrm flipH="false" flipV="false" rot="0">
              <a:off x="0" y="0"/>
              <a:ext cx="725430" cy="646471"/>
            </a:xfrm>
            <a:custGeom>
              <a:avLst/>
              <a:gdLst/>
              <a:ahLst/>
              <a:cxnLst/>
              <a:rect r="r" b="b" t="t" l="l"/>
              <a:pathLst>
                <a:path h="646471" w="725430">
                  <a:moveTo>
                    <a:pt x="165340" y="0"/>
                  </a:moveTo>
                  <a:lnTo>
                    <a:pt x="560090" y="0"/>
                  </a:lnTo>
                  <a:cubicBezTo>
                    <a:pt x="603941" y="0"/>
                    <a:pt x="645996" y="17420"/>
                    <a:pt x="677003" y="48427"/>
                  </a:cubicBezTo>
                  <a:cubicBezTo>
                    <a:pt x="708011" y="79434"/>
                    <a:pt x="725430" y="121489"/>
                    <a:pt x="725430" y="165340"/>
                  </a:cubicBezTo>
                  <a:lnTo>
                    <a:pt x="725430" y="481131"/>
                  </a:lnTo>
                  <a:cubicBezTo>
                    <a:pt x="725430" y="524982"/>
                    <a:pt x="708011" y="567037"/>
                    <a:pt x="677003" y="598044"/>
                  </a:cubicBezTo>
                  <a:cubicBezTo>
                    <a:pt x="645996" y="629052"/>
                    <a:pt x="603941" y="646471"/>
                    <a:pt x="560090" y="646471"/>
                  </a:cubicBezTo>
                  <a:lnTo>
                    <a:pt x="165340" y="646471"/>
                  </a:lnTo>
                  <a:cubicBezTo>
                    <a:pt x="121489" y="646471"/>
                    <a:pt x="79434" y="629052"/>
                    <a:pt x="48427" y="598044"/>
                  </a:cubicBezTo>
                  <a:cubicBezTo>
                    <a:pt x="17420" y="567037"/>
                    <a:pt x="0" y="524982"/>
                    <a:pt x="0" y="481131"/>
                  </a:cubicBezTo>
                  <a:lnTo>
                    <a:pt x="0" y="165340"/>
                  </a:lnTo>
                  <a:cubicBezTo>
                    <a:pt x="0" y="121489"/>
                    <a:pt x="17420" y="79434"/>
                    <a:pt x="48427" y="48427"/>
                  </a:cubicBezTo>
                  <a:cubicBezTo>
                    <a:pt x="79434" y="17420"/>
                    <a:pt x="121489" y="0"/>
                    <a:pt x="165340" y="0"/>
                  </a:cubicBezTo>
                  <a:close/>
                </a:path>
              </a:pathLst>
            </a:custGeom>
            <a:blipFill>
              <a:blip r:embed="rId10"/>
              <a:stretch>
                <a:fillRect l="0" t="-6106" r="0" b="-6106"/>
              </a:stretch>
            </a:blipFill>
          </p:spPr>
        </p:sp>
      </p:grpSp>
      <p:sp>
        <p:nvSpPr>
          <p:cNvPr name="Freeform 68" id="68"/>
          <p:cNvSpPr/>
          <p:nvPr/>
        </p:nvSpPr>
        <p:spPr>
          <a:xfrm flipH="false" flipV="false" rot="0">
            <a:off x="13899644" y="718057"/>
            <a:ext cx="2286511" cy="3170206"/>
          </a:xfrm>
          <a:custGeom>
            <a:avLst/>
            <a:gdLst/>
            <a:ahLst/>
            <a:cxnLst/>
            <a:rect r="r" b="b" t="t" l="l"/>
            <a:pathLst>
              <a:path h="3170206" w="2286511">
                <a:moveTo>
                  <a:pt x="0" y="0"/>
                </a:moveTo>
                <a:lnTo>
                  <a:pt x="2286511" y="0"/>
                </a:lnTo>
                <a:lnTo>
                  <a:pt x="2286511" y="3170206"/>
                </a:lnTo>
                <a:lnTo>
                  <a:pt x="0" y="3170206"/>
                </a:lnTo>
                <a:lnTo>
                  <a:pt x="0" y="0"/>
                </a:lnTo>
                <a:close/>
              </a:path>
            </a:pathLst>
          </a:custGeom>
          <a:blipFill>
            <a:blip r:embed="rId11"/>
            <a:stretch>
              <a:fillRect l="0" t="0" r="0" b="0"/>
            </a:stretch>
          </a:blipFill>
        </p:spPr>
      </p:sp>
      <p:grpSp>
        <p:nvGrpSpPr>
          <p:cNvPr name="Group 69" id="69"/>
          <p:cNvGrpSpPr/>
          <p:nvPr/>
        </p:nvGrpSpPr>
        <p:grpSpPr>
          <a:xfrm rot="0">
            <a:off x="11571447" y="8715223"/>
            <a:ext cx="1315386" cy="1368018"/>
            <a:chOff x="0" y="0"/>
            <a:chExt cx="1753848" cy="1824024"/>
          </a:xfrm>
        </p:grpSpPr>
        <p:grpSp>
          <p:nvGrpSpPr>
            <p:cNvPr name="Group 70" id="70"/>
            <p:cNvGrpSpPr/>
            <p:nvPr/>
          </p:nvGrpSpPr>
          <p:grpSpPr>
            <a:xfrm rot="0">
              <a:off x="0" y="0"/>
              <a:ext cx="1753848" cy="1824024"/>
              <a:chOff x="0" y="0"/>
              <a:chExt cx="346439" cy="360301"/>
            </a:xfrm>
          </p:grpSpPr>
          <p:sp>
            <p:nvSpPr>
              <p:cNvPr name="Freeform 71" id="71"/>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72" id="72"/>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3" id="73"/>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4" id="74"/>
          <p:cNvGrpSpPr/>
          <p:nvPr/>
        </p:nvGrpSpPr>
        <p:grpSpPr>
          <a:xfrm rot="0">
            <a:off x="13009632" y="8715223"/>
            <a:ext cx="1315386" cy="1368018"/>
            <a:chOff x="0" y="0"/>
            <a:chExt cx="1753848" cy="1824024"/>
          </a:xfrm>
        </p:grpSpPr>
        <p:grpSp>
          <p:nvGrpSpPr>
            <p:cNvPr name="Group 75" id="75"/>
            <p:cNvGrpSpPr/>
            <p:nvPr/>
          </p:nvGrpSpPr>
          <p:grpSpPr>
            <a:xfrm rot="0">
              <a:off x="0" y="0"/>
              <a:ext cx="1753848" cy="1824024"/>
              <a:chOff x="0" y="0"/>
              <a:chExt cx="346439" cy="360301"/>
            </a:xfrm>
          </p:grpSpPr>
          <p:sp>
            <p:nvSpPr>
              <p:cNvPr name="Freeform 76" id="76"/>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77" id="77"/>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8" id="78"/>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grpSp>
        <p:nvGrpSpPr>
          <p:cNvPr name="Group 79" id="79"/>
          <p:cNvGrpSpPr/>
          <p:nvPr/>
        </p:nvGrpSpPr>
        <p:grpSpPr>
          <a:xfrm rot="0">
            <a:off x="15691277" y="6862943"/>
            <a:ext cx="1315386" cy="1368018"/>
            <a:chOff x="0" y="0"/>
            <a:chExt cx="1753848" cy="1824024"/>
          </a:xfrm>
        </p:grpSpPr>
        <p:grpSp>
          <p:nvGrpSpPr>
            <p:cNvPr name="Group 80" id="80"/>
            <p:cNvGrpSpPr/>
            <p:nvPr/>
          </p:nvGrpSpPr>
          <p:grpSpPr>
            <a:xfrm rot="0">
              <a:off x="0" y="0"/>
              <a:ext cx="1753848" cy="1824024"/>
              <a:chOff x="0" y="0"/>
              <a:chExt cx="346439" cy="360301"/>
            </a:xfrm>
          </p:grpSpPr>
          <p:sp>
            <p:nvSpPr>
              <p:cNvPr name="Freeform 81" id="81"/>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82" id="82"/>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83" id="83"/>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grpSp>
      <p:grpSp>
        <p:nvGrpSpPr>
          <p:cNvPr name="Group 84" id="84"/>
          <p:cNvGrpSpPr/>
          <p:nvPr/>
        </p:nvGrpSpPr>
        <p:grpSpPr>
          <a:xfrm rot="0">
            <a:off x="14515518" y="8723991"/>
            <a:ext cx="1315386" cy="1368018"/>
            <a:chOff x="0" y="0"/>
            <a:chExt cx="1753848" cy="1824024"/>
          </a:xfrm>
        </p:grpSpPr>
        <p:grpSp>
          <p:nvGrpSpPr>
            <p:cNvPr name="Group 85" id="85"/>
            <p:cNvGrpSpPr/>
            <p:nvPr/>
          </p:nvGrpSpPr>
          <p:grpSpPr>
            <a:xfrm rot="0">
              <a:off x="0" y="0"/>
              <a:ext cx="1753848" cy="1824024"/>
              <a:chOff x="0" y="0"/>
              <a:chExt cx="346439" cy="360301"/>
            </a:xfrm>
          </p:grpSpPr>
          <p:sp>
            <p:nvSpPr>
              <p:cNvPr name="Freeform 86" id="86"/>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87" id="87"/>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88" id="88"/>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grpSp>
        <p:nvGrpSpPr>
          <p:cNvPr name="Group 89" id="89"/>
          <p:cNvGrpSpPr/>
          <p:nvPr/>
        </p:nvGrpSpPr>
        <p:grpSpPr>
          <a:xfrm rot="0">
            <a:off x="16020955" y="8732760"/>
            <a:ext cx="1315386" cy="1368018"/>
            <a:chOff x="0" y="0"/>
            <a:chExt cx="1753848" cy="1824024"/>
          </a:xfrm>
        </p:grpSpPr>
        <p:grpSp>
          <p:nvGrpSpPr>
            <p:cNvPr name="Group 90" id="90"/>
            <p:cNvGrpSpPr/>
            <p:nvPr/>
          </p:nvGrpSpPr>
          <p:grpSpPr>
            <a:xfrm rot="0">
              <a:off x="0" y="0"/>
              <a:ext cx="1753848" cy="1824024"/>
              <a:chOff x="0" y="0"/>
              <a:chExt cx="346439" cy="360301"/>
            </a:xfrm>
          </p:grpSpPr>
          <p:sp>
            <p:nvSpPr>
              <p:cNvPr name="Freeform 91" id="91"/>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E9D95"/>
              </a:solidFill>
              <a:ln w="95250" cap="rnd">
                <a:solidFill>
                  <a:srgbClr val="565087"/>
                </a:solidFill>
                <a:prstDash val="solid"/>
                <a:round/>
              </a:ln>
            </p:spPr>
          </p:sp>
          <p:sp>
            <p:nvSpPr>
              <p:cNvPr name="TextBox 92" id="92"/>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93" id="93"/>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p:spPr>
        </p:sp>
      </p:grpSp>
      <p:sp>
        <p:nvSpPr>
          <p:cNvPr name="Freeform 94" id="94"/>
          <p:cNvSpPr/>
          <p:nvPr/>
        </p:nvSpPr>
        <p:spPr>
          <a:xfrm flipH="false" flipV="false" rot="0">
            <a:off x="3771436" y="4158258"/>
            <a:ext cx="1310641" cy="1310641"/>
          </a:xfrm>
          <a:custGeom>
            <a:avLst/>
            <a:gdLst/>
            <a:ahLst/>
            <a:cxnLst/>
            <a:rect r="r" b="b" t="t" l="l"/>
            <a:pathLst>
              <a:path h="1310641" w="1310641">
                <a:moveTo>
                  <a:pt x="0" y="0"/>
                </a:moveTo>
                <a:lnTo>
                  <a:pt x="1310641" y="0"/>
                </a:lnTo>
                <a:lnTo>
                  <a:pt x="1310641" y="1310640"/>
                </a:lnTo>
                <a:lnTo>
                  <a:pt x="0" y="1310640"/>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w="38100" cap="sq">
            <a:solidFill>
              <a:srgbClr val="565087"/>
            </a:solidFill>
            <a:prstDash val="solid"/>
            <a:miter/>
          </a:ln>
        </p:spPr>
      </p:sp>
      <p:sp>
        <p:nvSpPr>
          <p:cNvPr name="Freeform 95" id="95"/>
          <p:cNvSpPr/>
          <p:nvPr/>
        </p:nvSpPr>
        <p:spPr>
          <a:xfrm flipH="false" flipV="false" rot="0">
            <a:off x="8308580" y="4201663"/>
            <a:ext cx="1310641" cy="1310641"/>
          </a:xfrm>
          <a:custGeom>
            <a:avLst/>
            <a:gdLst/>
            <a:ahLst/>
            <a:cxnLst/>
            <a:rect r="r" b="b" t="t" l="l"/>
            <a:pathLst>
              <a:path h="1310641" w="1310641">
                <a:moveTo>
                  <a:pt x="0" y="0"/>
                </a:moveTo>
                <a:lnTo>
                  <a:pt x="1310640" y="0"/>
                </a:lnTo>
                <a:lnTo>
                  <a:pt x="1310640" y="1310641"/>
                </a:lnTo>
                <a:lnTo>
                  <a:pt x="0" y="13106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w="38100" cap="sq">
            <a:solidFill>
              <a:srgbClr val="565087"/>
            </a:solidFill>
            <a:prstDash val="solid"/>
            <a:miter/>
          </a:ln>
        </p:spPr>
      </p:sp>
      <p:sp>
        <p:nvSpPr>
          <p:cNvPr name="Freeform 96" id="96"/>
          <p:cNvSpPr/>
          <p:nvPr/>
        </p:nvSpPr>
        <p:spPr>
          <a:xfrm flipH="false" flipV="false" rot="0">
            <a:off x="3864212" y="7297698"/>
            <a:ext cx="1310641" cy="1310641"/>
          </a:xfrm>
          <a:custGeom>
            <a:avLst/>
            <a:gdLst/>
            <a:ahLst/>
            <a:cxnLst/>
            <a:rect r="r" b="b" t="t" l="l"/>
            <a:pathLst>
              <a:path h="1310641" w="1310641">
                <a:moveTo>
                  <a:pt x="0" y="0"/>
                </a:moveTo>
                <a:lnTo>
                  <a:pt x="1310641" y="0"/>
                </a:lnTo>
                <a:lnTo>
                  <a:pt x="1310641" y="1310641"/>
                </a:lnTo>
                <a:lnTo>
                  <a:pt x="0" y="13106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w="38100" cap="sq">
            <a:solidFill>
              <a:srgbClr val="565087"/>
            </a:solidFill>
            <a:prstDash val="solid"/>
            <a:miter/>
          </a:ln>
        </p:spPr>
      </p:sp>
      <p:sp>
        <p:nvSpPr>
          <p:cNvPr name="Freeform 97" id="97"/>
          <p:cNvSpPr/>
          <p:nvPr/>
        </p:nvSpPr>
        <p:spPr>
          <a:xfrm flipH="false" flipV="false" rot="0">
            <a:off x="8236043" y="7297698"/>
            <a:ext cx="1310641" cy="1310641"/>
          </a:xfrm>
          <a:custGeom>
            <a:avLst/>
            <a:gdLst/>
            <a:ahLst/>
            <a:cxnLst/>
            <a:rect r="r" b="b" t="t" l="l"/>
            <a:pathLst>
              <a:path h="1310641" w="1310641">
                <a:moveTo>
                  <a:pt x="0" y="0"/>
                </a:moveTo>
                <a:lnTo>
                  <a:pt x="1310640" y="0"/>
                </a:lnTo>
                <a:lnTo>
                  <a:pt x="1310640" y="1310641"/>
                </a:lnTo>
                <a:lnTo>
                  <a:pt x="0" y="1310641"/>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w="38100" cap="sq">
            <a:solidFill>
              <a:srgbClr val="565087"/>
            </a:solidFill>
            <a:prstDash val="solid"/>
            <a:miter/>
          </a:ln>
        </p:spPr>
      </p:sp>
      <p:sp>
        <p:nvSpPr>
          <p:cNvPr name="TextBox 98" id="98"/>
          <p:cNvSpPr txBox="true"/>
          <p:nvPr/>
        </p:nvSpPr>
        <p:spPr>
          <a:xfrm rot="0">
            <a:off x="2478975" y="8952301"/>
            <a:ext cx="1093601" cy="545323"/>
          </a:xfrm>
          <a:prstGeom prst="rect">
            <a:avLst/>
          </a:prstGeom>
        </p:spPr>
        <p:txBody>
          <a:bodyPr anchor="t" rtlCol="false" tIns="0" lIns="0" bIns="0" rIns="0">
            <a:spAutoFit/>
          </a:bodyPr>
          <a:lstStyle/>
          <a:p>
            <a:pPr algn="ctr">
              <a:lnSpc>
                <a:spcPts val="4445"/>
              </a:lnSpc>
            </a:pPr>
            <a:r>
              <a:rPr lang="en-US" sz="3175">
                <a:solidFill>
                  <a:srgbClr val="BD6A73"/>
                </a:solidFill>
                <a:latin typeface="Tomorrow"/>
                <a:ea typeface="Tomorrow"/>
                <a:cs typeface="Tomorrow"/>
                <a:sym typeface="Tomorrow"/>
              </a:rPr>
              <a:t>Learn</a:t>
            </a:r>
          </a:p>
        </p:txBody>
      </p:sp>
      <p:sp>
        <p:nvSpPr>
          <p:cNvPr name="TextBox 99" id="99"/>
          <p:cNvSpPr txBox="true"/>
          <p:nvPr/>
        </p:nvSpPr>
        <p:spPr>
          <a:xfrm rot="0">
            <a:off x="5584018" y="8949746"/>
            <a:ext cx="1688604" cy="547878"/>
          </a:xfrm>
          <a:prstGeom prst="rect">
            <a:avLst/>
          </a:prstGeom>
        </p:spPr>
        <p:txBody>
          <a:bodyPr anchor="t" rtlCol="false" tIns="0" lIns="0" bIns="0" rIns="0">
            <a:spAutoFit/>
          </a:bodyPr>
          <a:lstStyle/>
          <a:p>
            <a:pPr algn="ctr">
              <a:lnSpc>
                <a:spcPts val="4452"/>
              </a:lnSpc>
            </a:pPr>
            <a:r>
              <a:rPr lang="en-US" sz="3179">
                <a:solidFill>
                  <a:srgbClr val="BD6A73"/>
                </a:solidFill>
                <a:latin typeface="Tomorrow"/>
                <a:ea typeface="Tomorrow"/>
                <a:cs typeface="Tomorrow"/>
                <a:sym typeface="Tomorrow"/>
              </a:rPr>
              <a:t>Discover</a:t>
            </a:r>
          </a:p>
        </p:txBody>
      </p:sp>
      <p:sp>
        <p:nvSpPr>
          <p:cNvPr name="TextBox 100" id="100"/>
          <p:cNvSpPr txBox="true"/>
          <p:nvPr/>
        </p:nvSpPr>
        <p:spPr>
          <a:xfrm rot="0">
            <a:off x="2611927" y="946329"/>
            <a:ext cx="6197600" cy="548002"/>
          </a:xfrm>
          <a:prstGeom prst="rect">
            <a:avLst/>
          </a:prstGeom>
        </p:spPr>
        <p:txBody>
          <a:bodyPr anchor="t" rtlCol="false" tIns="0" lIns="0" bIns="0" rIns="0">
            <a:spAutoFit/>
          </a:bodyPr>
          <a:lstStyle/>
          <a:p>
            <a:pPr algn="ctr">
              <a:lnSpc>
                <a:spcPts val="4445"/>
              </a:lnSpc>
            </a:pPr>
            <a:r>
              <a:rPr lang="en-US" b="true" sz="3175">
                <a:solidFill>
                  <a:srgbClr val="BD6A73"/>
                </a:solidFill>
                <a:latin typeface="Tomorrow Bold"/>
                <a:ea typeface="Tomorrow Bold"/>
                <a:cs typeface="Tomorrow Bold"/>
                <a:sym typeface="Tomorrow Bold"/>
              </a:rPr>
              <a:t>WebSystems and Technology</a:t>
            </a:r>
          </a:p>
        </p:txBody>
      </p:sp>
      <p:sp>
        <p:nvSpPr>
          <p:cNvPr name="TextBox 101" id="10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BD6A73"/>
                </a:solidFill>
                <a:latin typeface="Fatimi"/>
                <a:ea typeface="Fatimi"/>
                <a:cs typeface="Fatimi"/>
                <a:sym typeface="Fatimi"/>
              </a:rPr>
              <a:t>DEAR  BUP</a:t>
            </a:r>
          </a:p>
        </p:txBody>
      </p:sp>
    </p:spTree>
  </p:cSld>
  <p:clrMapOvr>
    <a:masterClrMapping/>
  </p:clrMapOvr>
  <p:transition spd="slow">
    <p:push dir="r"/>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5E7E1"/>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F7976">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F7976">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5E7E1"/>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F7976">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5E7E1"/>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F7976">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F7976">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5E7E1"/>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FFFFF"/>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FFFFF"/>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FFFFFF"/>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5E7E1"/>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1571447" y="8715223"/>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3043482"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4511269"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5979055" y="8732760"/>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5736197" y="6984928"/>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2121900" y="3040791"/>
            <a:ext cx="11754381" cy="2140585"/>
          </a:xfrm>
          <a:prstGeom prst="rect">
            <a:avLst/>
          </a:prstGeom>
        </p:spPr>
        <p:txBody>
          <a:bodyPr anchor="t" rtlCol="false" tIns="0" lIns="0" bIns="0" rIns="0">
            <a:spAutoFit/>
          </a:bodyPr>
          <a:lstStyle/>
          <a:p>
            <a:pPr algn="just">
              <a:lnSpc>
                <a:spcPts val="4339"/>
              </a:lnSpc>
            </a:pPr>
            <a:r>
              <a:rPr lang="en-US" sz="3099" b="true">
                <a:solidFill>
                  <a:srgbClr val="BF7976"/>
                </a:solidFill>
                <a:latin typeface="Canva Sans Bold"/>
                <a:ea typeface="Canva Sans Bold"/>
                <a:cs typeface="Canva Sans Bold"/>
                <a:sym typeface="Canva Sans Bold"/>
              </a:rPr>
              <a:t>At the end of this presenation we would also ask for your suggestions on how can we improve our website, but for now these are the list of needed improvements we will implement soon.</a:t>
            </a:r>
          </a:p>
        </p:txBody>
      </p:sp>
      <p:sp>
        <p:nvSpPr>
          <p:cNvPr name="TextBox 81" id="81"/>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2" id="82"/>
          <p:cNvSpPr txBox="true"/>
          <p:nvPr/>
        </p:nvSpPr>
        <p:spPr>
          <a:xfrm rot="0">
            <a:off x="2512712" y="957026"/>
            <a:ext cx="5969742" cy="604957"/>
          </a:xfrm>
          <a:prstGeom prst="rect">
            <a:avLst/>
          </a:prstGeom>
        </p:spPr>
        <p:txBody>
          <a:bodyPr anchor="t" rtlCol="false" tIns="0" lIns="0" bIns="0" rIns="0">
            <a:spAutoFit/>
          </a:bodyPr>
          <a:lstStyle/>
          <a:p>
            <a:pPr algn="ctr">
              <a:lnSpc>
                <a:spcPts val="4895"/>
              </a:lnSpc>
            </a:pPr>
            <a:r>
              <a:rPr lang="en-US" sz="3496" b="true">
                <a:solidFill>
                  <a:srgbClr val="BF7976"/>
                </a:solidFill>
                <a:latin typeface="Tomorrow Bold"/>
                <a:ea typeface="Tomorrow Bold"/>
                <a:cs typeface="Tomorrow Bold"/>
                <a:sym typeface="Tomorrow Bold"/>
              </a:rPr>
              <a:t>FUTURE IMPROVEMENTS</a:t>
            </a:r>
          </a:p>
        </p:txBody>
      </p:sp>
      <p:sp>
        <p:nvSpPr>
          <p:cNvPr name="TextBox 83" id="83"/>
          <p:cNvSpPr txBox="true"/>
          <p:nvPr/>
        </p:nvSpPr>
        <p:spPr>
          <a:xfrm rot="0">
            <a:off x="2898881" y="5500627"/>
            <a:ext cx="11754381" cy="2034541"/>
          </a:xfrm>
          <a:prstGeom prst="rect">
            <a:avLst/>
          </a:prstGeom>
        </p:spPr>
        <p:txBody>
          <a:bodyPr anchor="t" rtlCol="false" tIns="0" lIns="0" bIns="0" rIns="0">
            <a:spAutoFit/>
          </a:bodyPr>
          <a:lstStyle/>
          <a:p>
            <a:pPr algn="l" marL="842004" indent="-421002" lvl="1">
              <a:lnSpc>
                <a:spcPts val="5459"/>
              </a:lnSpc>
              <a:buFont typeface="Arial"/>
              <a:buChar char="•"/>
            </a:pPr>
            <a:r>
              <a:rPr lang="en-US" b="true" sz="3899">
                <a:solidFill>
                  <a:srgbClr val="DC9390"/>
                </a:solidFill>
                <a:latin typeface="Canva Sans Bold"/>
                <a:ea typeface="Canva Sans Bold"/>
                <a:cs typeface="Canva Sans Bold"/>
                <a:sym typeface="Canva Sans Bold"/>
              </a:rPr>
              <a:t>Help center</a:t>
            </a:r>
          </a:p>
          <a:p>
            <a:pPr algn="l" marL="842004" indent="-421002" lvl="1">
              <a:lnSpc>
                <a:spcPts val="5459"/>
              </a:lnSpc>
              <a:buFont typeface="Arial"/>
              <a:buChar char="•"/>
            </a:pPr>
            <a:r>
              <a:rPr lang="en-US" b="true" sz="3899">
                <a:solidFill>
                  <a:srgbClr val="DC9390"/>
                </a:solidFill>
                <a:latin typeface="Canva Sans Bold"/>
                <a:ea typeface="Canva Sans Bold"/>
                <a:cs typeface="Canva Sans Bold"/>
                <a:sym typeface="Canva Sans Bold"/>
              </a:rPr>
              <a:t>Report button</a:t>
            </a:r>
          </a:p>
          <a:p>
            <a:pPr algn="l" marL="842004" indent="-421002" lvl="1">
              <a:lnSpc>
                <a:spcPts val="5459"/>
              </a:lnSpc>
              <a:buFont typeface="Arial"/>
              <a:buChar char="•"/>
            </a:pPr>
            <a:r>
              <a:rPr lang="en-US" b="true" sz="3899">
                <a:solidFill>
                  <a:srgbClr val="DC9390"/>
                </a:solidFill>
                <a:latin typeface="Canva Sans Bold"/>
                <a:ea typeface="Canva Sans Bold"/>
                <a:cs typeface="Canva Sans Bold"/>
                <a:sym typeface="Canva Sans Bold"/>
              </a:rPr>
              <a:t>Pagination</a:t>
            </a:r>
          </a:p>
        </p:txBody>
      </p:sp>
      <p:sp>
        <p:nvSpPr>
          <p:cNvPr name="Freeform 84" id="84"/>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slow">
    <p:fade/>
  </p:transition>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FFFFF"/>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F7976">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F7976">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FFFFF"/>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F7976">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FFFFF"/>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F7976">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F7976">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FFFFF"/>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5E7E1"/>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5E7E1"/>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1571447" y="8715223"/>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3043482"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4511269"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5979055" y="8732760"/>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5736197" y="6984928"/>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1" id="81"/>
          <p:cNvSpPr txBox="true"/>
          <p:nvPr/>
        </p:nvSpPr>
        <p:spPr>
          <a:xfrm rot="0">
            <a:off x="2071250" y="793409"/>
            <a:ext cx="6184281" cy="854969"/>
          </a:xfrm>
          <a:prstGeom prst="rect">
            <a:avLst/>
          </a:prstGeom>
        </p:spPr>
        <p:txBody>
          <a:bodyPr anchor="t" rtlCol="false" tIns="0" lIns="0" bIns="0" rIns="0">
            <a:spAutoFit/>
          </a:bodyPr>
          <a:lstStyle/>
          <a:p>
            <a:pPr algn="ctr">
              <a:lnSpc>
                <a:spcPts val="6950"/>
              </a:lnSpc>
            </a:pPr>
            <a:r>
              <a:rPr lang="en-US" sz="4964" b="true">
                <a:solidFill>
                  <a:srgbClr val="E0A899"/>
                </a:solidFill>
                <a:latin typeface="Tomorrow Bold"/>
                <a:ea typeface="Tomorrow Bold"/>
                <a:cs typeface="Tomorrow Bold"/>
                <a:sym typeface="Tomorrow Bold"/>
              </a:rPr>
              <a:t>IMPROVEMENTS</a:t>
            </a:r>
          </a:p>
        </p:txBody>
      </p:sp>
      <p:sp>
        <p:nvSpPr>
          <p:cNvPr name="TextBox 82" id="82"/>
          <p:cNvSpPr txBox="true"/>
          <p:nvPr/>
        </p:nvSpPr>
        <p:spPr>
          <a:xfrm rot="0">
            <a:off x="3816870" y="4695050"/>
            <a:ext cx="10808342" cy="1482573"/>
          </a:xfrm>
          <a:prstGeom prst="rect">
            <a:avLst/>
          </a:prstGeom>
        </p:spPr>
        <p:txBody>
          <a:bodyPr anchor="t" rtlCol="false" tIns="0" lIns="0" bIns="0" rIns="0">
            <a:spAutoFit/>
          </a:bodyPr>
          <a:lstStyle/>
          <a:p>
            <a:pPr algn="ctr">
              <a:lnSpc>
                <a:spcPts val="12147"/>
              </a:lnSpc>
            </a:pPr>
            <a:r>
              <a:rPr lang="en-US" sz="8677" b="true">
                <a:solidFill>
                  <a:srgbClr val="E0A899"/>
                </a:solidFill>
                <a:latin typeface="Tomorrow Bold"/>
                <a:ea typeface="Tomorrow Bold"/>
                <a:cs typeface="Tomorrow Bold"/>
                <a:sym typeface="Tomorrow Bold"/>
              </a:rPr>
              <a:t>READY TO ASK?</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EFCFD0"/>
        </a:solidFill>
      </p:bgPr>
    </p:bg>
    <p:spTree>
      <p:nvGrpSpPr>
        <p:cNvPr id="1" name=""/>
        <p:cNvGrpSpPr/>
        <p:nvPr/>
      </p:nvGrpSpPr>
      <p:grpSpPr>
        <a:xfrm>
          <a:off x="0" y="0"/>
          <a:ext cx="0" cy="0"/>
          <a:chOff x="0" y="0"/>
          <a:chExt cx="0" cy="0"/>
        </a:xfrm>
      </p:grpSpPr>
      <p:sp>
        <p:nvSpPr>
          <p:cNvPr name="Freeform 2" id="2"/>
          <p:cNvSpPr/>
          <p:nvPr/>
        </p:nvSpPr>
        <p:spPr>
          <a:xfrm flipH="false" flipV="false" rot="0">
            <a:off x="0" y="490266"/>
            <a:ext cx="10644726" cy="1838634"/>
          </a:xfrm>
          <a:custGeom>
            <a:avLst/>
            <a:gdLst/>
            <a:ahLst/>
            <a:cxnLst/>
            <a:rect r="r" b="b" t="t" l="l"/>
            <a:pathLst>
              <a:path h="1838634" w="10644726">
                <a:moveTo>
                  <a:pt x="0" y="0"/>
                </a:moveTo>
                <a:lnTo>
                  <a:pt x="10644726" y="0"/>
                </a:lnTo>
                <a:lnTo>
                  <a:pt x="10644726" y="1838634"/>
                </a:lnTo>
                <a:lnTo>
                  <a:pt x="0" y="1838634"/>
                </a:lnTo>
                <a:lnTo>
                  <a:pt x="0" y="0"/>
                </a:lnTo>
                <a:close/>
              </a:path>
            </a:pathLst>
          </a:custGeom>
          <a:blipFill>
            <a:blip r:embed="rId2"/>
            <a:stretch>
              <a:fillRect l="0" t="0" r="0" b="0"/>
            </a:stretch>
          </a:blipFill>
        </p:spPr>
      </p:sp>
      <p:grpSp>
        <p:nvGrpSpPr>
          <p:cNvPr name="Group 3" id="3"/>
          <p:cNvGrpSpPr/>
          <p:nvPr/>
        </p:nvGrpSpPr>
        <p:grpSpPr>
          <a:xfrm rot="0">
            <a:off x="1105741" y="664758"/>
            <a:ext cx="8115300" cy="1177818"/>
            <a:chOff x="0" y="0"/>
            <a:chExt cx="2137363" cy="310207"/>
          </a:xfrm>
        </p:grpSpPr>
        <p:sp>
          <p:nvSpPr>
            <p:cNvPr name="Freeform 4" id="4"/>
            <p:cNvSpPr/>
            <p:nvPr/>
          </p:nvSpPr>
          <p:spPr>
            <a:xfrm flipH="false" flipV="false" rot="0">
              <a:off x="0" y="0"/>
              <a:ext cx="2137363" cy="310207"/>
            </a:xfrm>
            <a:custGeom>
              <a:avLst/>
              <a:gdLst/>
              <a:ahLst/>
              <a:cxnLst/>
              <a:rect r="r" b="b" t="t" l="l"/>
              <a:pathLst>
                <a:path h="310207" w="2137363">
                  <a:moveTo>
                    <a:pt x="95399" y="0"/>
                  </a:moveTo>
                  <a:lnTo>
                    <a:pt x="2041964" y="0"/>
                  </a:lnTo>
                  <a:cubicBezTo>
                    <a:pt x="2067265" y="0"/>
                    <a:pt x="2091530" y="10051"/>
                    <a:pt x="2109421" y="27942"/>
                  </a:cubicBezTo>
                  <a:cubicBezTo>
                    <a:pt x="2127312" y="45833"/>
                    <a:pt x="2137363" y="70098"/>
                    <a:pt x="2137363" y="95399"/>
                  </a:cubicBezTo>
                  <a:lnTo>
                    <a:pt x="2137363" y="214808"/>
                  </a:lnTo>
                  <a:cubicBezTo>
                    <a:pt x="2137363" y="267496"/>
                    <a:pt x="2094651" y="310207"/>
                    <a:pt x="2041964" y="310207"/>
                  </a:cubicBezTo>
                  <a:lnTo>
                    <a:pt x="95399" y="310207"/>
                  </a:lnTo>
                  <a:cubicBezTo>
                    <a:pt x="42712" y="310207"/>
                    <a:pt x="0" y="267496"/>
                    <a:pt x="0" y="214808"/>
                  </a:cubicBezTo>
                  <a:lnTo>
                    <a:pt x="0" y="95399"/>
                  </a:lnTo>
                  <a:cubicBezTo>
                    <a:pt x="0" y="42712"/>
                    <a:pt x="42712" y="0"/>
                    <a:pt x="95399" y="0"/>
                  </a:cubicBezTo>
                  <a:close/>
                </a:path>
              </a:pathLst>
            </a:custGeom>
            <a:solidFill>
              <a:srgbClr val="FFFFFF"/>
            </a:solidFill>
            <a:ln w="38100" cap="rnd">
              <a:solidFill>
                <a:srgbClr val="FFFFFF"/>
              </a:solidFill>
              <a:prstDash val="solid"/>
              <a:round/>
            </a:ln>
          </p:spPr>
        </p:sp>
        <p:sp>
          <p:nvSpPr>
            <p:cNvPr name="TextBox 5" id="5"/>
            <p:cNvSpPr txBox="true"/>
            <p:nvPr/>
          </p:nvSpPr>
          <p:spPr>
            <a:xfrm>
              <a:off x="0" y="-38100"/>
              <a:ext cx="2137363" cy="348307"/>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1356161" y="858957"/>
            <a:ext cx="765739" cy="789422"/>
          </a:xfrm>
          <a:custGeom>
            <a:avLst/>
            <a:gdLst/>
            <a:ahLst/>
            <a:cxnLst/>
            <a:rect r="r" b="b" t="t" l="l"/>
            <a:pathLst>
              <a:path h="789422" w="765739">
                <a:moveTo>
                  <a:pt x="0" y="0"/>
                </a:moveTo>
                <a:lnTo>
                  <a:pt x="765739" y="0"/>
                </a:lnTo>
                <a:lnTo>
                  <a:pt x="765739" y="789421"/>
                </a:lnTo>
                <a:lnTo>
                  <a:pt x="0" y="7894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356161" y="2506341"/>
            <a:ext cx="16230600" cy="6794168"/>
            <a:chOff x="0" y="0"/>
            <a:chExt cx="4274726" cy="1789411"/>
          </a:xfrm>
        </p:grpSpPr>
        <p:sp>
          <p:nvSpPr>
            <p:cNvPr name="Freeform 8" id="8"/>
            <p:cNvSpPr/>
            <p:nvPr/>
          </p:nvSpPr>
          <p:spPr>
            <a:xfrm flipH="false" flipV="false" rot="0">
              <a:off x="0" y="0"/>
              <a:ext cx="4274726" cy="1789411"/>
            </a:xfrm>
            <a:custGeom>
              <a:avLst/>
              <a:gdLst/>
              <a:ahLst/>
              <a:cxnLst/>
              <a:rect r="r" b="b" t="t" l="l"/>
              <a:pathLst>
                <a:path h="1789411" w="4274726">
                  <a:moveTo>
                    <a:pt x="13356" y="0"/>
                  </a:moveTo>
                  <a:lnTo>
                    <a:pt x="4261370" y="0"/>
                  </a:lnTo>
                  <a:cubicBezTo>
                    <a:pt x="4264912" y="0"/>
                    <a:pt x="4268309" y="1407"/>
                    <a:pt x="4270814" y="3912"/>
                  </a:cubicBezTo>
                  <a:cubicBezTo>
                    <a:pt x="4273319" y="6417"/>
                    <a:pt x="4274726" y="9814"/>
                    <a:pt x="4274726" y="13356"/>
                  </a:cubicBezTo>
                  <a:lnTo>
                    <a:pt x="4274726" y="1776055"/>
                  </a:lnTo>
                  <a:cubicBezTo>
                    <a:pt x="4274726" y="1779597"/>
                    <a:pt x="4273319" y="1782994"/>
                    <a:pt x="4270814" y="1785499"/>
                  </a:cubicBezTo>
                  <a:cubicBezTo>
                    <a:pt x="4268309" y="1788003"/>
                    <a:pt x="4264912" y="1789411"/>
                    <a:pt x="4261370" y="1789411"/>
                  </a:cubicBezTo>
                  <a:lnTo>
                    <a:pt x="13356" y="1789411"/>
                  </a:lnTo>
                  <a:cubicBezTo>
                    <a:pt x="9814" y="1789411"/>
                    <a:pt x="6417" y="1788003"/>
                    <a:pt x="3912" y="1785499"/>
                  </a:cubicBezTo>
                  <a:cubicBezTo>
                    <a:pt x="1407" y="1782994"/>
                    <a:pt x="0" y="1779597"/>
                    <a:pt x="0" y="1776055"/>
                  </a:cubicBezTo>
                  <a:lnTo>
                    <a:pt x="0" y="13356"/>
                  </a:lnTo>
                  <a:cubicBezTo>
                    <a:pt x="0" y="9814"/>
                    <a:pt x="1407" y="6417"/>
                    <a:pt x="3912" y="3912"/>
                  </a:cubicBezTo>
                  <a:cubicBezTo>
                    <a:pt x="6417" y="1407"/>
                    <a:pt x="9814" y="0"/>
                    <a:pt x="13356" y="0"/>
                  </a:cubicBezTo>
                  <a:close/>
                </a:path>
              </a:pathLst>
            </a:custGeom>
            <a:solidFill>
              <a:srgbClr val="BF7976">
                <a:alpha val="29804"/>
              </a:srgbClr>
            </a:solidFill>
          </p:spPr>
        </p:sp>
        <p:sp>
          <p:nvSpPr>
            <p:cNvPr name="TextBox 9" id="9"/>
            <p:cNvSpPr txBox="true"/>
            <p:nvPr/>
          </p:nvSpPr>
          <p:spPr>
            <a:xfrm>
              <a:off x="0" y="-38100"/>
              <a:ext cx="4274726" cy="1827511"/>
            </a:xfrm>
            <a:prstGeom prst="rect">
              <a:avLst/>
            </a:prstGeom>
          </p:spPr>
          <p:txBody>
            <a:bodyPr anchor="ctr" rtlCol="false" tIns="50800" lIns="50800" bIns="50800" rIns="50800"/>
            <a:lstStyle/>
            <a:p>
              <a:pPr algn="ctr">
                <a:lnSpc>
                  <a:spcPts val="2659"/>
                </a:lnSpc>
              </a:pPr>
            </a:p>
          </p:txBody>
        </p:sp>
      </p:grpSp>
      <p:grpSp>
        <p:nvGrpSpPr>
          <p:cNvPr name="Group 10" id="10"/>
          <p:cNvGrpSpPr/>
          <p:nvPr/>
        </p:nvGrpSpPr>
        <p:grpSpPr>
          <a:xfrm rot="0">
            <a:off x="10226939" y="664758"/>
            <a:ext cx="4426323" cy="4192225"/>
            <a:chOff x="0" y="0"/>
            <a:chExt cx="1165780" cy="1104125"/>
          </a:xfrm>
        </p:grpSpPr>
        <p:sp>
          <p:nvSpPr>
            <p:cNvPr name="Freeform 11" id="11"/>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BF7976">
                <a:alpha val="29804"/>
              </a:srgbClr>
            </a:solidFill>
          </p:spPr>
        </p:sp>
        <p:sp>
          <p:nvSpPr>
            <p:cNvPr name="TextBox 12" id="12"/>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0015978" y="490266"/>
            <a:ext cx="4426323" cy="4192225"/>
            <a:chOff x="0" y="0"/>
            <a:chExt cx="1165780" cy="1104125"/>
          </a:xfrm>
        </p:grpSpPr>
        <p:sp>
          <p:nvSpPr>
            <p:cNvPr name="Freeform 14" id="14"/>
            <p:cNvSpPr/>
            <p:nvPr/>
          </p:nvSpPr>
          <p:spPr>
            <a:xfrm flipH="false" flipV="false" rot="0">
              <a:off x="0" y="0"/>
              <a:ext cx="1165780" cy="1104125"/>
            </a:xfrm>
            <a:custGeom>
              <a:avLst/>
              <a:gdLst/>
              <a:ahLst/>
              <a:cxnLst/>
              <a:rect r="r" b="b" t="t" l="l"/>
              <a:pathLst>
                <a:path h="1104125" w="1165780">
                  <a:moveTo>
                    <a:pt x="174906" y="0"/>
                  </a:moveTo>
                  <a:lnTo>
                    <a:pt x="990874" y="0"/>
                  </a:lnTo>
                  <a:cubicBezTo>
                    <a:pt x="1087472" y="0"/>
                    <a:pt x="1165780" y="78308"/>
                    <a:pt x="1165780" y="174906"/>
                  </a:cubicBezTo>
                  <a:lnTo>
                    <a:pt x="1165780" y="929219"/>
                  </a:lnTo>
                  <a:cubicBezTo>
                    <a:pt x="1165780" y="1025817"/>
                    <a:pt x="1087472" y="1104125"/>
                    <a:pt x="990874" y="1104125"/>
                  </a:cubicBezTo>
                  <a:lnTo>
                    <a:pt x="174906" y="1104125"/>
                  </a:lnTo>
                  <a:cubicBezTo>
                    <a:pt x="128518" y="1104125"/>
                    <a:pt x="84030" y="1085697"/>
                    <a:pt x="51229" y="1052896"/>
                  </a:cubicBezTo>
                  <a:cubicBezTo>
                    <a:pt x="18428" y="1020095"/>
                    <a:pt x="0" y="975607"/>
                    <a:pt x="0" y="929219"/>
                  </a:cubicBezTo>
                  <a:lnTo>
                    <a:pt x="0" y="174906"/>
                  </a:lnTo>
                  <a:cubicBezTo>
                    <a:pt x="0" y="78308"/>
                    <a:pt x="78308" y="0"/>
                    <a:pt x="174906" y="0"/>
                  </a:cubicBezTo>
                  <a:close/>
                </a:path>
              </a:pathLst>
            </a:custGeom>
            <a:solidFill>
              <a:srgbClr val="FFFFFF"/>
            </a:solidFill>
          </p:spPr>
        </p:sp>
        <p:sp>
          <p:nvSpPr>
            <p:cNvPr name="TextBox 15" id="15"/>
            <p:cNvSpPr txBox="true"/>
            <p:nvPr/>
          </p:nvSpPr>
          <p:spPr>
            <a:xfrm>
              <a:off x="0" y="-38100"/>
              <a:ext cx="1165780" cy="1142225"/>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16186155" y="938966"/>
            <a:ext cx="1225545" cy="1246033"/>
            <a:chOff x="0" y="0"/>
            <a:chExt cx="322777" cy="328173"/>
          </a:xfrm>
        </p:grpSpPr>
        <p:sp>
          <p:nvSpPr>
            <p:cNvPr name="Freeform 17" id="17"/>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BF7976">
                <a:alpha val="29804"/>
              </a:srgbClr>
            </a:solidFill>
          </p:spPr>
        </p:sp>
        <p:sp>
          <p:nvSpPr>
            <p:cNvPr name="TextBox 18" id="18"/>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6033755" y="786566"/>
            <a:ext cx="1225545" cy="1246033"/>
            <a:chOff x="0" y="0"/>
            <a:chExt cx="322777" cy="328173"/>
          </a:xfrm>
        </p:grpSpPr>
        <p:sp>
          <p:nvSpPr>
            <p:cNvPr name="Freeform 20" id="20"/>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p:spPr>
        </p:sp>
        <p:sp>
          <p:nvSpPr>
            <p:cNvPr name="TextBox 21" id="21"/>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15659109" y="6912151"/>
            <a:ext cx="1225545" cy="1246033"/>
            <a:chOff x="0" y="0"/>
            <a:chExt cx="322777" cy="328173"/>
          </a:xfrm>
        </p:grpSpPr>
        <p:sp>
          <p:nvSpPr>
            <p:cNvPr name="Freeform 23" id="23"/>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24" id="24"/>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25" id="25"/>
          <p:cNvGrpSpPr/>
          <p:nvPr/>
        </p:nvGrpSpPr>
        <p:grpSpPr>
          <a:xfrm rot="0">
            <a:off x="1105741" y="2328900"/>
            <a:ext cx="16230600" cy="6748751"/>
            <a:chOff x="0" y="0"/>
            <a:chExt cx="4274726" cy="1777449"/>
          </a:xfrm>
        </p:grpSpPr>
        <p:sp>
          <p:nvSpPr>
            <p:cNvPr name="Freeform 26" id="26"/>
            <p:cNvSpPr/>
            <p:nvPr/>
          </p:nvSpPr>
          <p:spPr>
            <a:xfrm flipH="false" flipV="false" rot="0">
              <a:off x="0" y="0"/>
              <a:ext cx="4274726" cy="1777449"/>
            </a:xfrm>
            <a:custGeom>
              <a:avLst/>
              <a:gdLst/>
              <a:ahLst/>
              <a:cxnLst/>
              <a:rect r="r" b="b" t="t" l="l"/>
              <a:pathLst>
                <a:path h="1777449" w="4274726">
                  <a:moveTo>
                    <a:pt x="13356" y="0"/>
                  </a:moveTo>
                  <a:lnTo>
                    <a:pt x="4261370" y="0"/>
                  </a:lnTo>
                  <a:cubicBezTo>
                    <a:pt x="4264912" y="0"/>
                    <a:pt x="4268309" y="1407"/>
                    <a:pt x="4270814" y="3912"/>
                  </a:cubicBezTo>
                  <a:cubicBezTo>
                    <a:pt x="4273319" y="6417"/>
                    <a:pt x="4274726" y="9814"/>
                    <a:pt x="4274726" y="13356"/>
                  </a:cubicBezTo>
                  <a:lnTo>
                    <a:pt x="4274726" y="1764093"/>
                  </a:lnTo>
                  <a:cubicBezTo>
                    <a:pt x="4274726" y="1767635"/>
                    <a:pt x="4273319" y="1771032"/>
                    <a:pt x="4270814" y="1773537"/>
                  </a:cubicBezTo>
                  <a:cubicBezTo>
                    <a:pt x="4268309" y="1776042"/>
                    <a:pt x="4264912" y="1777449"/>
                    <a:pt x="4261370" y="1777449"/>
                  </a:cubicBezTo>
                  <a:lnTo>
                    <a:pt x="13356" y="1777449"/>
                  </a:lnTo>
                  <a:cubicBezTo>
                    <a:pt x="9814" y="1777449"/>
                    <a:pt x="6417" y="1776042"/>
                    <a:pt x="3912" y="1773537"/>
                  </a:cubicBezTo>
                  <a:cubicBezTo>
                    <a:pt x="1407" y="1771032"/>
                    <a:pt x="0" y="1767635"/>
                    <a:pt x="0" y="1764093"/>
                  </a:cubicBezTo>
                  <a:lnTo>
                    <a:pt x="0" y="13356"/>
                  </a:lnTo>
                  <a:cubicBezTo>
                    <a:pt x="0" y="9814"/>
                    <a:pt x="1407" y="6417"/>
                    <a:pt x="3912" y="3912"/>
                  </a:cubicBezTo>
                  <a:cubicBezTo>
                    <a:pt x="6417" y="1407"/>
                    <a:pt x="9814" y="0"/>
                    <a:pt x="13356" y="0"/>
                  </a:cubicBezTo>
                  <a:close/>
                </a:path>
              </a:pathLst>
            </a:custGeom>
            <a:solidFill>
              <a:srgbClr val="FFFFFF"/>
            </a:solidFill>
          </p:spPr>
        </p:sp>
        <p:sp>
          <p:nvSpPr>
            <p:cNvPr name="TextBox 27" id="27"/>
            <p:cNvSpPr txBox="true"/>
            <p:nvPr/>
          </p:nvSpPr>
          <p:spPr>
            <a:xfrm>
              <a:off x="0" y="-38100"/>
              <a:ext cx="4274726" cy="1815549"/>
            </a:xfrm>
            <a:prstGeom prst="rect">
              <a:avLst/>
            </a:prstGeom>
          </p:spPr>
          <p:txBody>
            <a:bodyPr anchor="ctr" rtlCol="false" tIns="50800" lIns="50800" bIns="50800" rIns="50800"/>
            <a:lstStyle/>
            <a:p>
              <a:pPr algn="ctr">
                <a:lnSpc>
                  <a:spcPts val="2659"/>
                </a:lnSpc>
              </a:pPr>
            </a:p>
          </p:txBody>
        </p:sp>
      </p:grpSp>
      <p:grpSp>
        <p:nvGrpSpPr>
          <p:cNvPr name="Group 28" id="28"/>
          <p:cNvGrpSpPr/>
          <p:nvPr/>
        </p:nvGrpSpPr>
        <p:grpSpPr>
          <a:xfrm rot="0">
            <a:off x="8556694" y="3575890"/>
            <a:ext cx="7344892" cy="4655071"/>
            <a:chOff x="0" y="0"/>
            <a:chExt cx="1934457" cy="1226027"/>
          </a:xfrm>
        </p:grpSpPr>
        <p:sp>
          <p:nvSpPr>
            <p:cNvPr name="Freeform 29" id="29"/>
            <p:cNvSpPr/>
            <p:nvPr/>
          </p:nvSpPr>
          <p:spPr>
            <a:xfrm flipH="false" flipV="false" rot="0">
              <a:off x="0" y="0"/>
              <a:ext cx="1934457" cy="1226027"/>
            </a:xfrm>
            <a:custGeom>
              <a:avLst/>
              <a:gdLst/>
              <a:ahLst/>
              <a:cxnLst/>
              <a:rect r="r" b="b" t="t" l="l"/>
              <a:pathLst>
                <a:path h="1226027" w="1934457">
                  <a:moveTo>
                    <a:pt x="52703" y="0"/>
                  </a:moveTo>
                  <a:lnTo>
                    <a:pt x="1881754" y="0"/>
                  </a:lnTo>
                  <a:cubicBezTo>
                    <a:pt x="1895732" y="0"/>
                    <a:pt x="1909137" y="5553"/>
                    <a:pt x="1919021" y="15436"/>
                  </a:cubicBezTo>
                  <a:cubicBezTo>
                    <a:pt x="1928905" y="25320"/>
                    <a:pt x="1934457" y="38725"/>
                    <a:pt x="1934457" y="52703"/>
                  </a:cubicBezTo>
                  <a:lnTo>
                    <a:pt x="1934457" y="1173324"/>
                  </a:lnTo>
                  <a:cubicBezTo>
                    <a:pt x="1934457" y="1187302"/>
                    <a:pt x="1928905" y="1200707"/>
                    <a:pt x="1919021" y="1210591"/>
                  </a:cubicBezTo>
                  <a:cubicBezTo>
                    <a:pt x="1909137" y="1220474"/>
                    <a:pt x="1895732" y="1226027"/>
                    <a:pt x="1881754" y="1226027"/>
                  </a:cubicBezTo>
                  <a:lnTo>
                    <a:pt x="52703" y="1226027"/>
                  </a:lnTo>
                  <a:cubicBezTo>
                    <a:pt x="38725" y="1226027"/>
                    <a:pt x="25320" y="1220474"/>
                    <a:pt x="15436" y="1210591"/>
                  </a:cubicBezTo>
                  <a:cubicBezTo>
                    <a:pt x="5553" y="1200707"/>
                    <a:pt x="0" y="1187302"/>
                    <a:pt x="0" y="1173324"/>
                  </a:cubicBezTo>
                  <a:lnTo>
                    <a:pt x="0" y="52703"/>
                  </a:lnTo>
                  <a:cubicBezTo>
                    <a:pt x="0" y="38725"/>
                    <a:pt x="5553" y="25320"/>
                    <a:pt x="15436" y="15436"/>
                  </a:cubicBezTo>
                  <a:cubicBezTo>
                    <a:pt x="25320" y="5553"/>
                    <a:pt x="38725" y="0"/>
                    <a:pt x="52703" y="0"/>
                  </a:cubicBezTo>
                  <a:close/>
                </a:path>
              </a:pathLst>
            </a:custGeom>
            <a:solidFill>
              <a:srgbClr val="BF7976">
                <a:alpha val="14902"/>
              </a:srgbClr>
            </a:solidFill>
          </p:spPr>
        </p:sp>
        <p:sp>
          <p:nvSpPr>
            <p:cNvPr name="TextBox 30" id="30"/>
            <p:cNvSpPr txBox="true"/>
            <p:nvPr/>
          </p:nvSpPr>
          <p:spPr>
            <a:xfrm>
              <a:off x="0" y="-38100"/>
              <a:ext cx="1934457" cy="1264127"/>
            </a:xfrm>
            <a:prstGeom prst="rect">
              <a:avLst/>
            </a:prstGeom>
          </p:spPr>
          <p:txBody>
            <a:bodyPr anchor="ctr" rtlCol="false" tIns="50800" lIns="50800" bIns="50800" rIns="50800"/>
            <a:lstStyle/>
            <a:p>
              <a:pPr algn="ctr">
                <a:lnSpc>
                  <a:spcPts val="2659"/>
                </a:lnSpc>
              </a:pPr>
            </a:p>
          </p:txBody>
        </p:sp>
      </p:grpSp>
      <p:grpSp>
        <p:nvGrpSpPr>
          <p:cNvPr name="Group 31" id="31"/>
          <p:cNvGrpSpPr/>
          <p:nvPr/>
        </p:nvGrpSpPr>
        <p:grpSpPr>
          <a:xfrm rot="0">
            <a:off x="12146870" y="2794483"/>
            <a:ext cx="4590862" cy="4125000"/>
            <a:chOff x="0" y="0"/>
            <a:chExt cx="1209116" cy="1086420"/>
          </a:xfrm>
        </p:grpSpPr>
        <p:sp>
          <p:nvSpPr>
            <p:cNvPr name="Freeform 32" id="32"/>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BF7976">
                <a:alpha val="14902"/>
              </a:srgbClr>
            </a:solidFill>
          </p:spPr>
        </p:sp>
        <p:sp>
          <p:nvSpPr>
            <p:cNvPr name="TextBox 33" id="33"/>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34" id="34"/>
          <p:cNvGrpSpPr/>
          <p:nvPr/>
        </p:nvGrpSpPr>
        <p:grpSpPr>
          <a:xfrm rot="0">
            <a:off x="10220941" y="636667"/>
            <a:ext cx="4016398" cy="3899422"/>
            <a:chOff x="0" y="0"/>
            <a:chExt cx="1057817" cy="1027008"/>
          </a:xfrm>
        </p:grpSpPr>
        <p:sp>
          <p:nvSpPr>
            <p:cNvPr name="Freeform 35" id="35"/>
            <p:cNvSpPr/>
            <p:nvPr/>
          </p:nvSpPr>
          <p:spPr>
            <a:xfrm flipH="false" flipV="false" rot="0">
              <a:off x="0" y="0"/>
              <a:ext cx="1057817" cy="1027008"/>
            </a:xfrm>
            <a:custGeom>
              <a:avLst/>
              <a:gdLst/>
              <a:ahLst/>
              <a:cxnLst/>
              <a:rect r="r" b="b" t="t" l="l"/>
              <a:pathLst>
                <a:path h="1027008" w="1057817">
                  <a:moveTo>
                    <a:pt x="183120" y="0"/>
                  </a:moveTo>
                  <a:lnTo>
                    <a:pt x="874697" y="0"/>
                  </a:lnTo>
                  <a:cubicBezTo>
                    <a:pt x="975831" y="0"/>
                    <a:pt x="1057817" y="81986"/>
                    <a:pt x="1057817" y="183120"/>
                  </a:cubicBezTo>
                  <a:lnTo>
                    <a:pt x="1057817" y="843888"/>
                  </a:lnTo>
                  <a:cubicBezTo>
                    <a:pt x="1057817" y="945023"/>
                    <a:pt x="975831" y="1027008"/>
                    <a:pt x="874697" y="1027008"/>
                  </a:cubicBezTo>
                  <a:lnTo>
                    <a:pt x="183120" y="1027008"/>
                  </a:lnTo>
                  <a:cubicBezTo>
                    <a:pt x="134553" y="1027008"/>
                    <a:pt x="87976" y="1007715"/>
                    <a:pt x="53635" y="973374"/>
                  </a:cubicBezTo>
                  <a:cubicBezTo>
                    <a:pt x="19293" y="939032"/>
                    <a:pt x="0" y="892455"/>
                    <a:pt x="0" y="843888"/>
                  </a:cubicBezTo>
                  <a:lnTo>
                    <a:pt x="0" y="183120"/>
                  </a:lnTo>
                  <a:cubicBezTo>
                    <a:pt x="0" y="81986"/>
                    <a:pt x="81986" y="0"/>
                    <a:pt x="183120" y="0"/>
                  </a:cubicBezTo>
                  <a:close/>
                </a:path>
              </a:pathLst>
            </a:custGeom>
            <a:solidFill>
              <a:srgbClr val="FFFFFF"/>
            </a:solidFill>
            <a:ln w="38100" cap="rnd">
              <a:solidFill>
                <a:srgbClr val="FFFFFF"/>
              </a:solidFill>
              <a:prstDash val="solid"/>
              <a:round/>
            </a:ln>
          </p:spPr>
        </p:sp>
        <p:sp>
          <p:nvSpPr>
            <p:cNvPr name="TextBox 36" id="36"/>
            <p:cNvSpPr txBox="true"/>
            <p:nvPr/>
          </p:nvSpPr>
          <p:spPr>
            <a:xfrm>
              <a:off x="0" y="-38100"/>
              <a:ext cx="1057817" cy="1065108"/>
            </a:xfrm>
            <a:prstGeom prst="rect">
              <a:avLst/>
            </a:prstGeom>
          </p:spPr>
          <p:txBody>
            <a:bodyPr anchor="ctr" rtlCol="false" tIns="50800" lIns="50800" bIns="50800" rIns="50800"/>
            <a:lstStyle/>
            <a:p>
              <a:pPr algn="ctr">
                <a:lnSpc>
                  <a:spcPts val="2659"/>
                </a:lnSpc>
              </a:pPr>
            </a:p>
          </p:txBody>
        </p:sp>
      </p:grpSp>
      <p:grpSp>
        <p:nvGrpSpPr>
          <p:cNvPr name="Group 37" id="37"/>
          <p:cNvGrpSpPr/>
          <p:nvPr/>
        </p:nvGrpSpPr>
        <p:grpSpPr>
          <a:xfrm rot="0">
            <a:off x="1356161" y="2586378"/>
            <a:ext cx="14302948" cy="5705575"/>
            <a:chOff x="0" y="0"/>
            <a:chExt cx="3767032" cy="1502703"/>
          </a:xfrm>
        </p:grpSpPr>
        <p:sp>
          <p:nvSpPr>
            <p:cNvPr name="Freeform 38" id="38"/>
            <p:cNvSpPr/>
            <p:nvPr/>
          </p:nvSpPr>
          <p:spPr>
            <a:xfrm flipH="false" flipV="false" rot="0">
              <a:off x="0" y="0"/>
              <a:ext cx="3767032" cy="1502703"/>
            </a:xfrm>
            <a:custGeom>
              <a:avLst/>
              <a:gdLst/>
              <a:ahLst/>
              <a:cxnLst/>
              <a:rect r="r" b="b" t="t" l="l"/>
              <a:pathLst>
                <a:path h="1502703" w="3767032">
                  <a:moveTo>
                    <a:pt x="27064" y="0"/>
                  </a:moveTo>
                  <a:lnTo>
                    <a:pt x="3739967" y="0"/>
                  </a:lnTo>
                  <a:cubicBezTo>
                    <a:pt x="3754915" y="0"/>
                    <a:pt x="3767032" y="12117"/>
                    <a:pt x="3767032" y="27064"/>
                  </a:cubicBezTo>
                  <a:lnTo>
                    <a:pt x="3767032" y="1475639"/>
                  </a:lnTo>
                  <a:cubicBezTo>
                    <a:pt x="3767032" y="1490586"/>
                    <a:pt x="3754915" y="1502703"/>
                    <a:pt x="3739967" y="1502703"/>
                  </a:cubicBezTo>
                  <a:lnTo>
                    <a:pt x="27064" y="1502703"/>
                  </a:lnTo>
                  <a:cubicBezTo>
                    <a:pt x="19886" y="1502703"/>
                    <a:pt x="13002" y="1499852"/>
                    <a:pt x="7927" y="1494776"/>
                  </a:cubicBezTo>
                  <a:cubicBezTo>
                    <a:pt x="2851" y="1489701"/>
                    <a:pt x="0" y="1482817"/>
                    <a:pt x="0" y="1475639"/>
                  </a:cubicBezTo>
                  <a:lnTo>
                    <a:pt x="0" y="27064"/>
                  </a:lnTo>
                  <a:cubicBezTo>
                    <a:pt x="0" y="19886"/>
                    <a:pt x="2851" y="13002"/>
                    <a:pt x="7927" y="7927"/>
                  </a:cubicBezTo>
                  <a:cubicBezTo>
                    <a:pt x="13002" y="2851"/>
                    <a:pt x="19886" y="0"/>
                    <a:pt x="27064" y="0"/>
                  </a:cubicBezTo>
                  <a:close/>
                </a:path>
              </a:pathLst>
            </a:custGeom>
            <a:solidFill>
              <a:srgbClr val="F5E7E1"/>
            </a:solidFill>
          </p:spPr>
        </p:sp>
        <p:sp>
          <p:nvSpPr>
            <p:cNvPr name="TextBox 39" id="39"/>
            <p:cNvSpPr txBox="true"/>
            <p:nvPr/>
          </p:nvSpPr>
          <p:spPr>
            <a:xfrm>
              <a:off x="0" y="-38100"/>
              <a:ext cx="3767032" cy="1540803"/>
            </a:xfrm>
            <a:prstGeom prst="rect">
              <a:avLst/>
            </a:prstGeom>
          </p:spPr>
          <p:txBody>
            <a:bodyPr anchor="ctr" rtlCol="false" tIns="50800" lIns="50800" bIns="50800" rIns="50800"/>
            <a:lstStyle/>
            <a:p>
              <a:pPr algn="ctr">
                <a:lnSpc>
                  <a:spcPts val="2659"/>
                </a:lnSpc>
              </a:pPr>
            </a:p>
          </p:txBody>
        </p:sp>
      </p:grpSp>
      <p:grpSp>
        <p:nvGrpSpPr>
          <p:cNvPr name="Group 40" id="40"/>
          <p:cNvGrpSpPr/>
          <p:nvPr/>
        </p:nvGrpSpPr>
        <p:grpSpPr>
          <a:xfrm rot="0">
            <a:off x="11941908" y="2619991"/>
            <a:ext cx="4590862" cy="4125000"/>
            <a:chOff x="0" y="0"/>
            <a:chExt cx="1209116" cy="1086420"/>
          </a:xfrm>
        </p:grpSpPr>
        <p:sp>
          <p:nvSpPr>
            <p:cNvPr name="Freeform 41" id="41"/>
            <p:cNvSpPr/>
            <p:nvPr/>
          </p:nvSpPr>
          <p:spPr>
            <a:xfrm flipH="false" flipV="false" rot="0">
              <a:off x="0" y="0"/>
              <a:ext cx="1209116" cy="1086420"/>
            </a:xfrm>
            <a:custGeom>
              <a:avLst/>
              <a:gdLst/>
              <a:ahLst/>
              <a:cxnLst/>
              <a:rect r="r" b="b" t="t" l="l"/>
              <a:pathLst>
                <a:path h="1086420" w="1209116">
                  <a:moveTo>
                    <a:pt x="84319" y="0"/>
                  </a:moveTo>
                  <a:lnTo>
                    <a:pt x="1124797" y="0"/>
                  </a:lnTo>
                  <a:cubicBezTo>
                    <a:pt x="1147160" y="0"/>
                    <a:pt x="1168607" y="8884"/>
                    <a:pt x="1184419" y="24696"/>
                  </a:cubicBezTo>
                  <a:cubicBezTo>
                    <a:pt x="1200232" y="40509"/>
                    <a:pt x="1209116" y="61956"/>
                    <a:pt x="1209116" y="84319"/>
                  </a:cubicBezTo>
                  <a:lnTo>
                    <a:pt x="1209116" y="1002101"/>
                  </a:lnTo>
                  <a:cubicBezTo>
                    <a:pt x="1209116" y="1024464"/>
                    <a:pt x="1200232" y="1045910"/>
                    <a:pt x="1184419" y="1061723"/>
                  </a:cubicBezTo>
                  <a:cubicBezTo>
                    <a:pt x="1168607" y="1077536"/>
                    <a:pt x="1147160" y="1086420"/>
                    <a:pt x="1124797" y="1086420"/>
                  </a:cubicBezTo>
                  <a:lnTo>
                    <a:pt x="84319" y="1086420"/>
                  </a:lnTo>
                  <a:cubicBezTo>
                    <a:pt x="61956" y="1086420"/>
                    <a:pt x="40509" y="1077536"/>
                    <a:pt x="24696" y="1061723"/>
                  </a:cubicBezTo>
                  <a:cubicBezTo>
                    <a:pt x="8884" y="1045910"/>
                    <a:pt x="0" y="1024464"/>
                    <a:pt x="0" y="1002101"/>
                  </a:cubicBezTo>
                  <a:lnTo>
                    <a:pt x="0" y="84319"/>
                  </a:lnTo>
                  <a:cubicBezTo>
                    <a:pt x="0" y="61956"/>
                    <a:pt x="8884" y="40509"/>
                    <a:pt x="24696" y="24696"/>
                  </a:cubicBezTo>
                  <a:cubicBezTo>
                    <a:pt x="40509" y="8884"/>
                    <a:pt x="61956" y="0"/>
                    <a:pt x="84319" y="0"/>
                  </a:cubicBezTo>
                  <a:close/>
                </a:path>
              </a:pathLst>
            </a:custGeom>
            <a:solidFill>
              <a:srgbClr val="F5E7E1"/>
            </a:solidFill>
          </p:spPr>
        </p:sp>
        <p:sp>
          <p:nvSpPr>
            <p:cNvPr name="TextBox 42" id="42"/>
            <p:cNvSpPr txBox="true"/>
            <p:nvPr/>
          </p:nvSpPr>
          <p:spPr>
            <a:xfrm>
              <a:off x="0" y="-38100"/>
              <a:ext cx="1209116" cy="1124520"/>
            </a:xfrm>
            <a:prstGeom prst="rect">
              <a:avLst/>
            </a:prstGeom>
          </p:spPr>
          <p:txBody>
            <a:bodyPr anchor="ctr" rtlCol="false" tIns="50800" lIns="50800" bIns="50800" rIns="50800"/>
            <a:lstStyle/>
            <a:p>
              <a:pPr algn="ctr">
                <a:lnSpc>
                  <a:spcPts val="2659"/>
                </a:lnSpc>
              </a:pPr>
            </a:p>
          </p:txBody>
        </p:sp>
      </p:grpSp>
      <p:grpSp>
        <p:nvGrpSpPr>
          <p:cNvPr name="Group 43" id="43"/>
          <p:cNvGrpSpPr/>
          <p:nvPr/>
        </p:nvGrpSpPr>
        <p:grpSpPr>
          <a:xfrm rot="0">
            <a:off x="1356161" y="9416769"/>
            <a:ext cx="2987514" cy="728142"/>
            <a:chOff x="0" y="0"/>
            <a:chExt cx="786835" cy="191774"/>
          </a:xfrm>
        </p:grpSpPr>
        <p:sp>
          <p:nvSpPr>
            <p:cNvPr name="Freeform 44" id="44"/>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5" id="45"/>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grpSp>
        <p:nvGrpSpPr>
          <p:cNvPr name="Group 46" id="46"/>
          <p:cNvGrpSpPr/>
          <p:nvPr/>
        </p:nvGrpSpPr>
        <p:grpSpPr>
          <a:xfrm rot="0">
            <a:off x="4758706" y="9416769"/>
            <a:ext cx="2987514" cy="728142"/>
            <a:chOff x="0" y="0"/>
            <a:chExt cx="786835" cy="191774"/>
          </a:xfrm>
        </p:grpSpPr>
        <p:sp>
          <p:nvSpPr>
            <p:cNvPr name="Freeform 47" id="47"/>
            <p:cNvSpPr/>
            <p:nvPr/>
          </p:nvSpPr>
          <p:spPr>
            <a:xfrm flipH="false" flipV="false" rot="0">
              <a:off x="0" y="0"/>
              <a:ext cx="786835" cy="191774"/>
            </a:xfrm>
            <a:custGeom>
              <a:avLst/>
              <a:gdLst/>
              <a:ahLst/>
              <a:cxnLst/>
              <a:rect r="r" b="b" t="t" l="l"/>
              <a:pathLst>
                <a:path h="191774" w="786835">
                  <a:moveTo>
                    <a:pt x="95887" y="0"/>
                  </a:moveTo>
                  <a:lnTo>
                    <a:pt x="690948" y="0"/>
                  </a:lnTo>
                  <a:cubicBezTo>
                    <a:pt x="743905" y="0"/>
                    <a:pt x="786835" y="42930"/>
                    <a:pt x="786835" y="95887"/>
                  </a:cubicBezTo>
                  <a:lnTo>
                    <a:pt x="786835" y="95887"/>
                  </a:lnTo>
                  <a:cubicBezTo>
                    <a:pt x="786835" y="148844"/>
                    <a:pt x="743905" y="191774"/>
                    <a:pt x="690948" y="191774"/>
                  </a:cubicBezTo>
                  <a:lnTo>
                    <a:pt x="95887" y="191774"/>
                  </a:lnTo>
                  <a:cubicBezTo>
                    <a:pt x="42930" y="191774"/>
                    <a:pt x="0" y="148844"/>
                    <a:pt x="0" y="95887"/>
                  </a:cubicBezTo>
                  <a:lnTo>
                    <a:pt x="0" y="95887"/>
                  </a:lnTo>
                  <a:cubicBezTo>
                    <a:pt x="0" y="42930"/>
                    <a:pt x="42930" y="0"/>
                    <a:pt x="95887" y="0"/>
                  </a:cubicBezTo>
                  <a:close/>
                </a:path>
              </a:pathLst>
            </a:custGeom>
            <a:solidFill>
              <a:srgbClr val="EFCFD0"/>
            </a:solidFill>
            <a:ln w="38100" cap="rnd">
              <a:solidFill>
                <a:srgbClr val="565087"/>
              </a:solidFill>
              <a:prstDash val="solid"/>
              <a:round/>
            </a:ln>
          </p:spPr>
        </p:sp>
        <p:sp>
          <p:nvSpPr>
            <p:cNvPr name="TextBox 48" id="48"/>
            <p:cNvSpPr txBox="true"/>
            <p:nvPr/>
          </p:nvSpPr>
          <p:spPr>
            <a:xfrm>
              <a:off x="0" y="-38100"/>
              <a:ext cx="786835" cy="229874"/>
            </a:xfrm>
            <a:prstGeom prst="rect">
              <a:avLst/>
            </a:prstGeom>
          </p:spPr>
          <p:txBody>
            <a:bodyPr anchor="ctr" rtlCol="false" tIns="50800" lIns="50800" bIns="50800" rIns="50800"/>
            <a:lstStyle/>
            <a:p>
              <a:pPr algn="ctr">
                <a:lnSpc>
                  <a:spcPts val="2659"/>
                </a:lnSpc>
              </a:pPr>
            </a:p>
          </p:txBody>
        </p:sp>
      </p:grpSp>
      <p:sp>
        <p:nvSpPr>
          <p:cNvPr name="Freeform 49" id="49"/>
          <p:cNvSpPr/>
          <p:nvPr/>
        </p:nvSpPr>
        <p:spPr>
          <a:xfrm flipH="false" flipV="false" rot="0">
            <a:off x="16331312" y="919736"/>
            <a:ext cx="630431" cy="979693"/>
          </a:xfrm>
          <a:custGeom>
            <a:avLst/>
            <a:gdLst/>
            <a:ahLst/>
            <a:cxnLst/>
            <a:rect r="r" b="b" t="t" l="l"/>
            <a:pathLst>
              <a:path h="979693" w="630431">
                <a:moveTo>
                  <a:pt x="0" y="0"/>
                </a:moveTo>
                <a:lnTo>
                  <a:pt x="630431" y="0"/>
                </a:lnTo>
                <a:lnTo>
                  <a:pt x="630431" y="979694"/>
                </a:lnTo>
                <a:lnTo>
                  <a:pt x="0" y="979694"/>
                </a:lnTo>
                <a:lnTo>
                  <a:pt x="0" y="0"/>
                </a:lnTo>
                <a:close/>
              </a:path>
            </a:pathLst>
          </a:custGeom>
          <a:blipFill>
            <a:blip r:embed="rId5"/>
            <a:stretch>
              <a:fillRect l="-43495" t="-4788" r="-41029" b="0"/>
            </a:stretch>
          </a:blipFill>
        </p:spPr>
      </p:sp>
      <p:grpSp>
        <p:nvGrpSpPr>
          <p:cNvPr name="Group 50" id="50"/>
          <p:cNvGrpSpPr/>
          <p:nvPr/>
        </p:nvGrpSpPr>
        <p:grpSpPr>
          <a:xfrm rot="0">
            <a:off x="15736197" y="6984928"/>
            <a:ext cx="1225545" cy="1246033"/>
            <a:chOff x="0" y="0"/>
            <a:chExt cx="322777" cy="328173"/>
          </a:xfrm>
        </p:grpSpPr>
        <p:sp>
          <p:nvSpPr>
            <p:cNvPr name="Freeform 51" id="51"/>
            <p:cNvSpPr/>
            <p:nvPr/>
          </p:nvSpPr>
          <p:spPr>
            <a:xfrm flipH="false" flipV="false" rot="0">
              <a:off x="0" y="0"/>
              <a:ext cx="322777" cy="328173"/>
            </a:xfrm>
            <a:custGeom>
              <a:avLst/>
              <a:gdLst/>
              <a:ahLst/>
              <a:cxnLst/>
              <a:rect r="r" b="b" t="t" l="l"/>
              <a:pathLst>
                <a:path h="328173" w="322777">
                  <a:moveTo>
                    <a:pt x="161389" y="0"/>
                  </a:moveTo>
                  <a:lnTo>
                    <a:pt x="161389" y="0"/>
                  </a:lnTo>
                  <a:cubicBezTo>
                    <a:pt x="204192" y="0"/>
                    <a:pt x="245241" y="17003"/>
                    <a:pt x="275508" y="47270"/>
                  </a:cubicBezTo>
                  <a:cubicBezTo>
                    <a:pt x="305774" y="77536"/>
                    <a:pt x="322777" y="118586"/>
                    <a:pt x="322777" y="161389"/>
                  </a:cubicBezTo>
                  <a:lnTo>
                    <a:pt x="322777" y="166785"/>
                  </a:lnTo>
                  <a:cubicBezTo>
                    <a:pt x="322777" y="209587"/>
                    <a:pt x="305774" y="250637"/>
                    <a:pt x="275508" y="280904"/>
                  </a:cubicBezTo>
                  <a:cubicBezTo>
                    <a:pt x="245241" y="311170"/>
                    <a:pt x="204192" y="328173"/>
                    <a:pt x="161389" y="328173"/>
                  </a:cubicBezTo>
                  <a:lnTo>
                    <a:pt x="161389" y="328173"/>
                  </a:lnTo>
                  <a:cubicBezTo>
                    <a:pt x="118586" y="328173"/>
                    <a:pt x="77536" y="311170"/>
                    <a:pt x="47270" y="280904"/>
                  </a:cubicBezTo>
                  <a:cubicBezTo>
                    <a:pt x="17003" y="250637"/>
                    <a:pt x="0" y="209587"/>
                    <a:pt x="0" y="166785"/>
                  </a:cubicBezTo>
                  <a:lnTo>
                    <a:pt x="0" y="161389"/>
                  </a:lnTo>
                  <a:cubicBezTo>
                    <a:pt x="0" y="118586"/>
                    <a:pt x="17003" y="77536"/>
                    <a:pt x="47270" y="47270"/>
                  </a:cubicBezTo>
                  <a:cubicBezTo>
                    <a:pt x="77536" y="17003"/>
                    <a:pt x="118586" y="0"/>
                    <a:pt x="161389" y="0"/>
                  </a:cubicBezTo>
                  <a:close/>
                </a:path>
              </a:pathLst>
            </a:custGeom>
            <a:solidFill>
              <a:srgbClr val="FFFFFF"/>
            </a:solidFill>
            <a:ln w="38100" cap="rnd">
              <a:solidFill>
                <a:srgbClr val="FFFFFF"/>
              </a:solidFill>
              <a:prstDash val="solid"/>
              <a:round/>
            </a:ln>
          </p:spPr>
        </p:sp>
        <p:sp>
          <p:nvSpPr>
            <p:cNvPr name="TextBox 52" id="52"/>
            <p:cNvSpPr txBox="true"/>
            <p:nvPr/>
          </p:nvSpPr>
          <p:spPr>
            <a:xfrm>
              <a:off x="0" y="-38100"/>
              <a:ext cx="322777" cy="366273"/>
            </a:xfrm>
            <a:prstGeom prst="rect">
              <a:avLst/>
            </a:prstGeom>
          </p:spPr>
          <p:txBody>
            <a:bodyPr anchor="ctr" rtlCol="false" tIns="50800" lIns="50800" bIns="50800" rIns="50800"/>
            <a:lstStyle/>
            <a:p>
              <a:pPr algn="ctr">
                <a:lnSpc>
                  <a:spcPts val="2659"/>
                </a:lnSpc>
              </a:pPr>
            </a:p>
          </p:txBody>
        </p:sp>
      </p:grpSp>
      <p:grpSp>
        <p:nvGrpSpPr>
          <p:cNvPr name="Group 53" id="53"/>
          <p:cNvGrpSpPr/>
          <p:nvPr/>
        </p:nvGrpSpPr>
        <p:grpSpPr>
          <a:xfrm rot="0">
            <a:off x="11571447" y="8715223"/>
            <a:ext cx="1315386" cy="1368018"/>
            <a:chOff x="0" y="0"/>
            <a:chExt cx="1753848" cy="1824024"/>
          </a:xfrm>
        </p:grpSpPr>
        <p:grpSp>
          <p:nvGrpSpPr>
            <p:cNvPr name="Group 54" id="54"/>
            <p:cNvGrpSpPr/>
            <p:nvPr/>
          </p:nvGrpSpPr>
          <p:grpSpPr>
            <a:xfrm rot="0">
              <a:off x="0" y="0"/>
              <a:ext cx="1753848" cy="1824024"/>
              <a:chOff x="0" y="0"/>
              <a:chExt cx="346439" cy="360301"/>
            </a:xfrm>
          </p:grpSpPr>
          <p:sp>
            <p:nvSpPr>
              <p:cNvPr name="Freeform 55" id="5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56" id="5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57" id="57"/>
            <p:cNvSpPr/>
            <p:nvPr/>
          </p:nvSpPr>
          <p:spPr>
            <a:xfrm flipH="false" flipV="false" rot="0">
              <a:off x="312464" y="347552"/>
              <a:ext cx="1128921" cy="1128921"/>
            </a:xfrm>
            <a:custGeom>
              <a:avLst/>
              <a:gdLst/>
              <a:ahLst/>
              <a:cxnLst/>
              <a:rect r="r" b="b" t="t" l="l"/>
              <a:pathLst>
                <a:path h="1128921" w="1128921">
                  <a:moveTo>
                    <a:pt x="0" y="0"/>
                  </a:moveTo>
                  <a:lnTo>
                    <a:pt x="1128921" y="0"/>
                  </a:lnTo>
                  <a:lnTo>
                    <a:pt x="1128921" y="1128920"/>
                  </a:lnTo>
                  <a:lnTo>
                    <a:pt x="0" y="112892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grpSp>
        <p:nvGrpSpPr>
          <p:cNvPr name="Group 58" id="58"/>
          <p:cNvGrpSpPr/>
          <p:nvPr/>
        </p:nvGrpSpPr>
        <p:grpSpPr>
          <a:xfrm rot="0">
            <a:off x="13043482" y="8715223"/>
            <a:ext cx="1315386" cy="1368018"/>
            <a:chOff x="0" y="0"/>
            <a:chExt cx="1753848" cy="1824024"/>
          </a:xfrm>
        </p:grpSpPr>
        <p:grpSp>
          <p:nvGrpSpPr>
            <p:cNvPr name="Group 59" id="59"/>
            <p:cNvGrpSpPr/>
            <p:nvPr/>
          </p:nvGrpSpPr>
          <p:grpSpPr>
            <a:xfrm rot="0">
              <a:off x="0" y="0"/>
              <a:ext cx="1753848" cy="1824024"/>
              <a:chOff x="0" y="0"/>
              <a:chExt cx="346439" cy="360301"/>
            </a:xfrm>
          </p:grpSpPr>
          <p:sp>
            <p:nvSpPr>
              <p:cNvPr name="Freeform 60" id="6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1" id="6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2" id="62"/>
            <p:cNvSpPr/>
            <p:nvPr/>
          </p:nvSpPr>
          <p:spPr>
            <a:xfrm flipH="false" flipV="false" rot="0">
              <a:off x="346966" y="393745"/>
              <a:ext cx="1059917" cy="1059917"/>
            </a:xfrm>
            <a:custGeom>
              <a:avLst/>
              <a:gdLst/>
              <a:ahLst/>
              <a:cxnLst/>
              <a:rect r="r" b="b" t="t" l="l"/>
              <a:pathLst>
                <a:path h="1059917" w="1059917">
                  <a:moveTo>
                    <a:pt x="0" y="0"/>
                  </a:moveTo>
                  <a:lnTo>
                    <a:pt x="1059916" y="0"/>
                  </a:lnTo>
                  <a:lnTo>
                    <a:pt x="1059916" y="1059917"/>
                  </a:lnTo>
                  <a:lnTo>
                    <a:pt x="0" y="105991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grpSp>
        <p:nvGrpSpPr>
          <p:cNvPr name="Group 63" id="63"/>
          <p:cNvGrpSpPr/>
          <p:nvPr/>
        </p:nvGrpSpPr>
        <p:grpSpPr>
          <a:xfrm rot="0">
            <a:off x="14511269" y="8715223"/>
            <a:ext cx="1315386" cy="1368018"/>
            <a:chOff x="0" y="0"/>
            <a:chExt cx="1753848" cy="1824024"/>
          </a:xfrm>
        </p:grpSpPr>
        <p:grpSp>
          <p:nvGrpSpPr>
            <p:cNvPr name="Group 64" id="64"/>
            <p:cNvGrpSpPr/>
            <p:nvPr/>
          </p:nvGrpSpPr>
          <p:grpSpPr>
            <a:xfrm rot="0">
              <a:off x="0" y="0"/>
              <a:ext cx="1753848" cy="1824024"/>
              <a:chOff x="0" y="0"/>
              <a:chExt cx="346439" cy="360301"/>
            </a:xfrm>
          </p:grpSpPr>
          <p:sp>
            <p:nvSpPr>
              <p:cNvPr name="Freeform 65" id="6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66" id="6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67" id="67"/>
            <p:cNvSpPr/>
            <p:nvPr/>
          </p:nvSpPr>
          <p:spPr>
            <a:xfrm flipH="false" flipV="false" rot="0">
              <a:off x="303556" y="382054"/>
              <a:ext cx="1146736" cy="1146736"/>
            </a:xfrm>
            <a:custGeom>
              <a:avLst/>
              <a:gdLst/>
              <a:ahLst/>
              <a:cxnLst/>
              <a:rect r="r" b="b" t="t" l="l"/>
              <a:pathLst>
                <a:path h="1146736" w="1146736">
                  <a:moveTo>
                    <a:pt x="0" y="0"/>
                  </a:moveTo>
                  <a:lnTo>
                    <a:pt x="1146736" y="0"/>
                  </a:lnTo>
                  <a:lnTo>
                    <a:pt x="1146736" y="1146735"/>
                  </a:lnTo>
                  <a:lnTo>
                    <a:pt x="0" y="114673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grpSp>
        <p:nvGrpSpPr>
          <p:cNvPr name="Group 68" id="68"/>
          <p:cNvGrpSpPr/>
          <p:nvPr/>
        </p:nvGrpSpPr>
        <p:grpSpPr>
          <a:xfrm rot="0">
            <a:off x="15979055" y="8732760"/>
            <a:ext cx="1315386" cy="1368018"/>
            <a:chOff x="0" y="0"/>
            <a:chExt cx="1753848" cy="1824024"/>
          </a:xfrm>
        </p:grpSpPr>
        <p:grpSp>
          <p:nvGrpSpPr>
            <p:cNvPr name="Group 69" id="69"/>
            <p:cNvGrpSpPr/>
            <p:nvPr/>
          </p:nvGrpSpPr>
          <p:grpSpPr>
            <a:xfrm rot="0">
              <a:off x="0" y="0"/>
              <a:ext cx="1753848" cy="1824024"/>
              <a:chOff x="0" y="0"/>
              <a:chExt cx="346439" cy="360301"/>
            </a:xfrm>
          </p:grpSpPr>
          <p:sp>
            <p:nvSpPr>
              <p:cNvPr name="Freeform 70" id="70"/>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1" id="71"/>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2" id="72"/>
            <p:cNvSpPr/>
            <p:nvPr/>
          </p:nvSpPr>
          <p:spPr>
            <a:xfrm flipH="false" flipV="false" rot="0">
              <a:off x="264018" y="498662"/>
              <a:ext cx="1225812" cy="931617"/>
            </a:xfrm>
            <a:custGeom>
              <a:avLst/>
              <a:gdLst/>
              <a:ahLst/>
              <a:cxnLst/>
              <a:rect r="r" b="b" t="t" l="l"/>
              <a:pathLst>
                <a:path h="931617" w="1225812">
                  <a:moveTo>
                    <a:pt x="0" y="0"/>
                  </a:moveTo>
                  <a:lnTo>
                    <a:pt x="1225812" y="0"/>
                  </a:lnTo>
                  <a:lnTo>
                    <a:pt x="1225812" y="931617"/>
                  </a:lnTo>
                  <a:lnTo>
                    <a:pt x="0" y="93161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grpSp>
      <p:grpSp>
        <p:nvGrpSpPr>
          <p:cNvPr name="Group 73" id="73"/>
          <p:cNvGrpSpPr/>
          <p:nvPr/>
        </p:nvGrpSpPr>
        <p:grpSpPr>
          <a:xfrm rot="0">
            <a:off x="15736197" y="6984928"/>
            <a:ext cx="1315386" cy="1368018"/>
            <a:chOff x="0" y="0"/>
            <a:chExt cx="1753848" cy="1824024"/>
          </a:xfrm>
        </p:grpSpPr>
        <p:grpSp>
          <p:nvGrpSpPr>
            <p:cNvPr name="Group 74" id="74"/>
            <p:cNvGrpSpPr/>
            <p:nvPr/>
          </p:nvGrpSpPr>
          <p:grpSpPr>
            <a:xfrm rot="0">
              <a:off x="0" y="0"/>
              <a:ext cx="1753848" cy="1824024"/>
              <a:chOff x="0" y="0"/>
              <a:chExt cx="346439" cy="360301"/>
            </a:xfrm>
          </p:grpSpPr>
          <p:sp>
            <p:nvSpPr>
              <p:cNvPr name="Freeform 75" id="75"/>
              <p:cNvSpPr/>
              <p:nvPr/>
            </p:nvSpPr>
            <p:spPr>
              <a:xfrm flipH="false" flipV="false" rot="0">
                <a:off x="0" y="0"/>
                <a:ext cx="346439" cy="360301"/>
              </a:xfrm>
              <a:custGeom>
                <a:avLst/>
                <a:gdLst/>
                <a:ahLst/>
                <a:cxnLst/>
                <a:rect r="r" b="b" t="t" l="l"/>
                <a:pathLst>
                  <a:path h="360301" w="346439">
                    <a:moveTo>
                      <a:pt x="173220" y="0"/>
                    </a:moveTo>
                    <a:lnTo>
                      <a:pt x="173220" y="0"/>
                    </a:lnTo>
                    <a:cubicBezTo>
                      <a:pt x="219160" y="0"/>
                      <a:pt x="263219" y="18250"/>
                      <a:pt x="295704" y="50735"/>
                    </a:cubicBezTo>
                    <a:cubicBezTo>
                      <a:pt x="328189" y="83220"/>
                      <a:pt x="346439" y="127279"/>
                      <a:pt x="346439" y="173220"/>
                    </a:cubicBezTo>
                    <a:lnTo>
                      <a:pt x="346439" y="187081"/>
                    </a:lnTo>
                    <a:cubicBezTo>
                      <a:pt x="346439" y="233022"/>
                      <a:pt x="328189" y="277081"/>
                      <a:pt x="295704" y="309566"/>
                    </a:cubicBezTo>
                    <a:cubicBezTo>
                      <a:pt x="263219" y="342051"/>
                      <a:pt x="219160" y="360301"/>
                      <a:pt x="173220" y="360301"/>
                    </a:cubicBezTo>
                    <a:lnTo>
                      <a:pt x="173220" y="360301"/>
                    </a:lnTo>
                    <a:cubicBezTo>
                      <a:pt x="127279" y="360301"/>
                      <a:pt x="83220" y="342051"/>
                      <a:pt x="50735" y="309566"/>
                    </a:cubicBezTo>
                    <a:cubicBezTo>
                      <a:pt x="18250" y="277081"/>
                      <a:pt x="0" y="233022"/>
                      <a:pt x="0" y="187081"/>
                    </a:cubicBezTo>
                    <a:lnTo>
                      <a:pt x="0" y="173220"/>
                    </a:lnTo>
                    <a:cubicBezTo>
                      <a:pt x="0" y="127279"/>
                      <a:pt x="18250" y="83220"/>
                      <a:pt x="50735" y="50735"/>
                    </a:cubicBezTo>
                    <a:cubicBezTo>
                      <a:pt x="83220" y="18250"/>
                      <a:pt x="127279" y="0"/>
                      <a:pt x="173220" y="0"/>
                    </a:cubicBezTo>
                    <a:close/>
                  </a:path>
                </a:pathLst>
              </a:custGeom>
              <a:solidFill>
                <a:srgbClr val="DC9390"/>
              </a:solidFill>
              <a:ln w="95250" cap="rnd">
                <a:solidFill>
                  <a:srgbClr val="565087"/>
                </a:solidFill>
                <a:prstDash val="solid"/>
                <a:round/>
              </a:ln>
            </p:spPr>
          </p:sp>
          <p:sp>
            <p:nvSpPr>
              <p:cNvPr name="TextBox 76" id="76"/>
              <p:cNvSpPr txBox="true"/>
              <p:nvPr/>
            </p:nvSpPr>
            <p:spPr>
              <a:xfrm>
                <a:off x="0" y="-38100"/>
                <a:ext cx="346439" cy="398401"/>
              </a:xfrm>
              <a:prstGeom prst="rect">
                <a:avLst/>
              </a:prstGeom>
            </p:spPr>
            <p:txBody>
              <a:bodyPr anchor="ctr" rtlCol="false" tIns="50800" lIns="50800" bIns="50800" rIns="50800"/>
              <a:lstStyle/>
              <a:p>
                <a:pPr algn="ctr">
                  <a:lnSpc>
                    <a:spcPts val="2659"/>
                  </a:lnSpc>
                </a:pPr>
              </a:p>
            </p:txBody>
          </p:sp>
        </p:grpSp>
        <p:sp>
          <p:nvSpPr>
            <p:cNvPr name="Freeform 77" id="77"/>
            <p:cNvSpPr/>
            <p:nvPr/>
          </p:nvSpPr>
          <p:spPr>
            <a:xfrm flipH="false" flipV="false" rot="0">
              <a:off x="332636" y="365862"/>
              <a:ext cx="1088576" cy="998768"/>
            </a:xfrm>
            <a:custGeom>
              <a:avLst/>
              <a:gdLst/>
              <a:ahLst/>
              <a:cxnLst/>
              <a:rect r="r" b="b" t="t" l="l"/>
              <a:pathLst>
                <a:path h="998768" w="1088576">
                  <a:moveTo>
                    <a:pt x="0" y="0"/>
                  </a:moveTo>
                  <a:lnTo>
                    <a:pt x="1088576" y="0"/>
                  </a:lnTo>
                  <a:lnTo>
                    <a:pt x="1088576" y="998769"/>
                  </a:lnTo>
                  <a:lnTo>
                    <a:pt x="0" y="998769"/>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sp>
        <p:nvSpPr>
          <p:cNvPr name="TextBox 78" id="78"/>
          <p:cNvSpPr txBox="true"/>
          <p:nvPr/>
        </p:nvSpPr>
        <p:spPr>
          <a:xfrm rot="0">
            <a:off x="2303117" y="9474841"/>
            <a:ext cx="1093601" cy="545323"/>
          </a:xfrm>
          <a:prstGeom prst="rect">
            <a:avLst/>
          </a:prstGeom>
        </p:spPr>
        <p:txBody>
          <a:bodyPr anchor="t" rtlCol="false" tIns="0" lIns="0" bIns="0" rIns="0">
            <a:spAutoFit/>
          </a:bodyPr>
          <a:lstStyle/>
          <a:p>
            <a:pPr algn="ctr">
              <a:lnSpc>
                <a:spcPts val="4445"/>
              </a:lnSpc>
            </a:pPr>
            <a:r>
              <a:rPr lang="en-US" sz="3175">
                <a:solidFill>
                  <a:srgbClr val="BF7976"/>
                </a:solidFill>
                <a:latin typeface="Tomorrow"/>
                <a:ea typeface="Tomorrow"/>
                <a:cs typeface="Tomorrow"/>
                <a:sym typeface="Tomorrow"/>
              </a:rPr>
              <a:t>Learn</a:t>
            </a:r>
          </a:p>
        </p:txBody>
      </p:sp>
      <p:sp>
        <p:nvSpPr>
          <p:cNvPr name="TextBox 79" id="79"/>
          <p:cNvSpPr txBox="true"/>
          <p:nvPr/>
        </p:nvSpPr>
        <p:spPr>
          <a:xfrm rot="0">
            <a:off x="5408161" y="9471793"/>
            <a:ext cx="1688604" cy="547878"/>
          </a:xfrm>
          <a:prstGeom prst="rect">
            <a:avLst/>
          </a:prstGeom>
        </p:spPr>
        <p:txBody>
          <a:bodyPr anchor="t" rtlCol="false" tIns="0" lIns="0" bIns="0" rIns="0">
            <a:spAutoFit/>
          </a:bodyPr>
          <a:lstStyle/>
          <a:p>
            <a:pPr algn="ctr">
              <a:lnSpc>
                <a:spcPts val="4452"/>
              </a:lnSpc>
            </a:pPr>
            <a:r>
              <a:rPr lang="en-US" sz="3179">
                <a:solidFill>
                  <a:srgbClr val="BF7976"/>
                </a:solidFill>
                <a:latin typeface="Tomorrow"/>
                <a:ea typeface="Tomorrow"/>
                <a:cs typeface="Tomorrow"/>
                <a:sym typeface="Tomorrow"/>
              </a:rPr>
              <a:t>Discover</a:t>
            </a:r>
          </a:p>
        </p:txBody>
      </p:sp>
      <p:sp>
        <p:nvSpPr>
          <p:cNvPr name="TextBox 80" id="80"/>
          <p:cNvSpPr txBox="true"/>
          <p:nvPr/>
        </p:nvSpPr>
        <p:spPr>
          <a:xfrm rot="0">
            <a:off x="10323217" y="673152"/>
            <a:ext cx="3811845" cy="1480432"/>
          </a:xfrm>
          <a:prstGeom prst="rect">
            <a:avLst/>
          </a:prstGeom>
        </p:spPr>
        <p:txBody>
          <a:bodyPr anchor="t" rtlCol="false" tIns="0" lIns="0" bIns="0" rIns="0">
            <a:spAutoFit/>
          </a:bodyPr>
          <a:lstStyle/>
          <a:p>
            <a:pPr algn="ctr">
              <a:lnSpc>
                <a:spcPts val="12195"/>
              </a:lnSpc>
            </a:pPr>
            <a:r>
              <a:rPr lang="en-US" sz="8711">
                <a:solidFill>
                  <a:srgbClr val="E1BBA2"/>
                </a:solidFill>
                <a:latin typeface="Fatimi"/>
                <a:ea typeface="Fatimi"/>
                <a:cs typeface="Fatimi"/>
                <a:sym typeface="Fatimi"/>
              </a:rPr>
              <a:t>DEAR  BUP</a:t>
            </a:r>
          </a:p>
        </p:txBody>
      </p:sp>
      <p:sp>
        <p:nvSpPr>
          <p:cNvPr name="TextBox 81" id="81"/>
          <p:cNvSpPr txBox="true"/>
          <p:nvPr/>
        </p:nvSpPr>
        <p:spPr>
          <a:xfrm rot="0">
            <a:off x="2149910" y="881816"/>
            <a:ext cx="6516501" cy="512418"/>
          </a:xfrm>
          <a:prstGeom prst="rect">
            <a:avLst/>
          </a:prstGeom>
        </p:spPr>
        <p:txBody>
          <a:bodyPr anchor="t" rtlCol="false" tIns="0" lIns="0" bIns="0" rIns="0">
            <a:spAutoFit/>
          </a:bodyPr>
          <a:lstStyle/>
          <a:p>
            <a:pPr algn="ctr">
              <a:lnSpc>
                <a:spcPts val="4226"/>
              </a:lnSpc>
            </a:pPr>
            <a:r>
              <a:rPr lang="en-US" sz="3018" b="true">
                <a:solidFill>
                  <a:srgbClr val="E0A899"/>
                </a:solidFill>
                <a:latin typeface="Tomorrow Bold"/>
                <a:ea typeface="Tomorrow Bold"/>
                <a:cs typeface="Tomorrow Bold"/>
                <a:sym typeface="Tomorrow Bold"/>
              </a:rPr>
              <a:t>Websystems and Technology</a:t>
            </a:r>
          </a:p>
        </p:txBody>
      </p:sp>
      <p:sp>
        <p:nvSpPr>
          <p:cNvPr name="TextBox 82" id="82"/>
          <p:cNvSpPr txBox="true"/>
          <p:nvPr/>
        </p:nvSpPr>
        <p:spPr>
          <a:xfrm rot="0">
            <a:off x="3550527" y="4073798"/>
            <a:ext cx="10808342" cy="2231667"/>
          </a:xfrm>
          <a:prstGeom prst="rect">
            <a:avLst/>
          </a:prstGeom>
        </p:spPr>
        <p:txBody>
          <a:bodyPr anchor="t" rtlCol="false" tIns="0" lIns="0" bIns="0" rIns="0">
            <a:spAutoFit/>
          </a:bodyPr>
          <a:lstStyle/>
          <a:p>
            <a:pPr algn="ctr">
              <a:lnSpc>
                <a:spcPts val="8590"/>
              </a:lnSpc>
            </a:pPr>
            <a:r>
              <a:rPr lang="en-US" sz="8677" b="true">
                <a:solidFill>
                  <a:srgbClr val="E0A899"/>
                </a:solidFill>
                <a:latin typeface="Tomorrow Bold"/>
                <a:ea typeface="Tomorrow Bold"/>
                <a:cs typeface="Tomorrow Bold"/>
                <a:sym typeface="Tomorrow Bold"/>
              </a:rPr>
              <a:t>Thank You</a:t>
            </a:r>
          </a:p>
          <a:p>
            <a:pPr algn="ctr">
              <a:lnSpc>
                <a:spcPts val="8590"/>
              </a:lnSpc>
            </a:pPr>
            <a:r>
              <a:rPr lang="en-US" sz="8677" b="true">
                <a:solidFill>
                  <a:srgbClr val="E0A899"/>
                </a:solidFill>
                <a:latin typeface="Tomorrow Bold"/>
                <a:ea typeface="Tomorrow Bold"/>
                <a:cs typeface="Tomorrow Bold"/>
                <a:sym typeface="Tomorrow Bold"/>
              </a:rPr>
              <a:t>For Listening!</a:t>
            </a:r>
          </a:p>
        </p:txBody>
      </p:sp>
      <p:sp>
        <p:nvSpPr>
          <p:cNvPr name="Freeform 83" id="83"/>
          <p:cNvSpPr/>
          <p:nvPr/>
        </p:nvSpPr>
        <p:spPr>
          <a:xfrm flipH="false" flipV="false" rot="0">
            <a:off x="13874090" y="1409583"/>
            <a:ext cx="2474880" cy="3357667"/>
          </a:xfrm>
          <a:custGeom>
            <a:avLst/>
            <a:gdLst/>
            <a:ahLst/>
            <a:cxnLst/>
            <a:rect r="r" b="b" t="t" l="l"/>
            <a:pathLst>
              <a:path h="3357667" w="2474880">
                <a:moveTo>
                  <a:pt x="0" y="0"/>
                </a:moveTo>
                <a:lnTo>
                  <a:pt x="2474880" y="0"/>
                </a:lnTo>
                <a:lnTo>
                  <a:pt x="2474880" y="3357667"/>
                </a:lnTo>
                <a:lnTo>
                  <a:pt x="0" y="3357667"/>
                </a:lnTo>
                <a:lnTo>
                  <a:pt x="0" y="0"/>
                </a:lnTo>
                <a:close/>
              </a:path>
            </a:pathLst>
          </a:custGeom>
          <a:blipFill>
            <a:blip r:embed="rId16"/>
            <a:stretch>
              <a:fillRect l="0" t="0" r="0" b="0"/>
            </a:stretch>
          </a:blipFill>
        </p:spPr>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DAHJUIteM9E</dc:identifier>
  <dcterms:modified xsi:type="dcterms:W3CDTF">2011-08-01T06:04:30Z</dcterms:modified>
  <cp:revision>1</cp:revision>
  <dc:title>DearBUP</dc:title>
</cp:coreProperties>
</file>